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project: topic 3.9, RL for sequential recommendation. The one-line question is when an RL recommender actually beats a supervised next-click recommender on long-term utility, and what changes when we show a slate of several items instead of one. Every number in this talk is produced by a script in the repository; the README lists the commands.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supervised sequential recommender is trained to predict the next click, so it optimises short-term engagement, i.e. click-through rate. An RL recommender maximises a discounted sum of future rewards, so in principle it can give up a click now for more engagement later. Papers report RL gains, but often on one-step metrics, and it is unclear where the gains come from. The topic asks when the RL recommender actually wins on long-term utility, and suggests the extension to re-ranking, where K items are shown at once. Our answer strategy: put both in one model so the comparison is exact.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the episodic combinatorial MDP with multinomial-logit choice from Lee and Oh, ICML 2025. At each step the recommender shows a slate of at most K items; the user clicks one item or the outside option 'no click' with MNL probabilities, gets reward 1 per click, and the next state depends on what was picked. Only item-level values Q-bar need to be learned; the slate value is the choice-probability-weighted average. The best slate is a linear-fractional program, solved as an LP after Charnes-Cooper or by bisection, both verified against brute force on 300 random instances. Lemma 1: with unit click rewards the best immediate slate is the top-K by utility, and a cross-entropy next-click model recovers utilities up to a constant, so supervised = the gamma = 0 policy. That turns 'supervised vs RL' into 'gamma = 0 vs gamma &gt; 0' in one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1: for any n there is an MDP where the optimal long-term return is more than n times the myopic return. Construction: a junk item that is more clickable than a good item but makes the user leave; myopic always shows junk and gets at most one click, while showing the good item collects H times c_g clicks. This is the dual of Labarca, Parra and Toro Icarte's Theorem 4.3, which shows an RL-optimal policy can be arbitrarily worse at next-item prediction. So neither objective dominates: the metric and the dynamics decide. Proposition 2: if the transition does not depend on the chosen item, including no-click, the future term is a constant c(s), choice probabilities sum to one, so Q(s,A) = immediate reward + c(s) and myopic is optimal for every gamma. Corollary: RL helps only if the choice changes the future. Full proofs are in formulation.tex; Section 4 there has a two-type good/junk toy model for the dependence on K (not a proposition; to be analysed for the end-semester).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pipeline of what exists now. S1 data: RetailRocket and MovieLens-1M preprocessing, matching the paper's RetailRocket statistics, 195,524 sessions, 70,852 items, 57,269 purchases. S2 formulation and proofs. S3 the exact MNL assortment solver, LP and bisection, tested against brute force. S4 and S5 are the two reproductions; S6 and S7 the MovieLens simulator and its oracle sanity check; S8 the main supervised-vs-RL experiment at K = 1; S9 the Streamlit demo. Everything is a script in the repo, reproducible from the README.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Labarca, Parra and Toro Icarte claim that adding an RL loss (SQN: a Q-head trained by TD with click reward 1 and purchase reward 5) to GRU4Rec or SASRec improves next-item prediction, but that non-RL auxiliary heads (EVAL, HIST) give similar gains, so the gain is representation learning, not RL. We reproduce their protocol: time-based 80/10/10 split, hidden 64, state length 10, gamma 0.5, full-ranking HR and NDCG, model selection on validation purchase NDCG@20. Our data matches: 195,524 sessions, 70,852 items, 57,269 purchases. Partial CPU results, 1 seed, 2-3 epochs: e.g. SASRec CE purchase HR@20 0.551, GRU4Rec CE purchase HR@20 0.458. Our purchase metrics are about twice the paper's (0.46 vs 0.23 for GRU4Rec CE HR@20): 67% of purchase targets equal the item viewed just before, 73% are in the 10-item history. So we compare relative differences between heads; SQN is still below CE after 2-3 epochs, which is too early to conclude. The full grid, 8 models x 5 seeds, runs on a Colab GPU.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paper's synthetic 'budget' MDP: N items, 5 states, horizon 5, slates of up to 6 items, MNL choice with linear utilities, and rewards and transitions that depend on the chosen item. The optimum is computed exactly by dynamic programming with the exact assortment solver. Three agents: myopic (OFU-MNL+-style), LSVI-UCB treating each assortment as an action, and MNL-VQL, the paper's algorithm. 30,000 episodes, 5 seeds; numbers are the mean return over the last 2,000 episodes. N = 10: optimal 0.680 ± 0.071, myopic 0.513 ± 0.050, MNL-VQL 0.678 ± 0.074. N = 20: optimal 0.719 ± 0.024, myopic 0.524 ± 0.029, MNL-VQL 0.718 ± 0.026. N = 40: optimal 0.705 ± 0.061, myopic 0.444 ± 0.079, MNL-VQL 0.706 ± 0.060. MNL-VQL is within 1% of optimal for all N; myopic is 25-37% below optimal because it ignores how the choice changes the next state. LSVI-UCB is not in between: at N = 10 it equals myopic (0.513 ± 0.041 vs 0.513 ± 0.050, optimal 0.680 ± 0.071); it is slow because assortments grow combinatorially, so we ran it only up to N = 20. This reproduces the paper's Figure 1 qualitatively.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KuaiRec was not obtainable, so the simulator is calibrated on MovieLens-1M, as Lee and Oh do. Catalogue: 500 most-rated movies; preferences from rank-32 ALS on all 1M ratings. Junk items: the bottom 25% by mean rating, popular but poorly rated, made more clickable with kappa = 1, like clickbait. The strength s scales all long-term effects: clicking changes hidden satisfaction by s·eta·(q - q_ref), a junk click makes the user leave with probability 0.3 s, and the per-step exit probability is 0.05 + 0.4 s (1 - satisfaction); sessions are capped at 30 steps. At s = 0 nothing the user picks affects the future, so Prop. 2 says myopic is optimal: this is our control. The dynamics are assumed, not learned, so conclusions are about the mechanism.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learning anything we check the simulator with two oracles that use hidden information. The myopic oracle shows the top-K by true current utility; the quality oracle shows the best predicted rating and never junk. At s = 0, K = 1: myopic 6.19, quality 4.95 clicks per session. At s = 0.25, K = 1: myopic 3.24, quality 3.29 clicks per session. At s = 0.25, K = 5: myopic 5.50, quality 7.90 clicks per session. At s = 1, K = 5: myopic 2.40, quality 6.03 clicks per session. So at s = 0 myopic wins, as Prop. 2 says; once effects are on, the quality oracle wins, and the gap grows with K, as the two-type toy model in formulation.tex Section 4 predicts. The myopic oracle always has the higher first-slate CTR.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Learned agents see only what a real recommender sees: user id, the last 10 clicks, the step, and factors of a separate rating model fitted on half of each user's ratings, with per-user correlation 0.77 to the simulator's true ratings. They never see satisfaction, fatigue or the junk flag. Logs: 2 sessions per training user from a popularity behaviour policy with 30% exploration; evaluation on held-out users, 3 seeds. Supervised CE uses the MNL choice likelihood, so by Lemma 1 it targets the myopic policy. SQN-style adds a TD head but still recommends from CE. CQL is conservative offline Q-learning. MNL-Q is ours: the Lee and Oh decomposition for K = 1, Q = p·Q_c + (1 - p)·N. DQN is online, re-ranking the supervised top-20.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experiment at K = 1, mean and std over 3 seeds on held-out users. At s = 0.0: supervised 4.06, MNL-Q 3.89, DQN 4.37, rating heuristic 4.25. At s = 0.25: supervised 2.47, MNL-Q 2.49, DQN 2.46, rating heuristic 2.79. At s = 0.5: supervised 1.76, MNL-Q 1.85, DQN 1.77, rating heuristic 2.20. At s = 1.0: supervised 1.18, MNL-Q 1.31, DQN 1.18, rating heuristic 1.62. At s = 0 RL brings nothing, as Prop. 2 predicts. As s grows, the supervised model keeps recommending clickable junk and loses users early; the RL agents' relative position improves with s. The y-axis of the figure is logarithmic; the dashed lines are oracles that use hidden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at s = 0 offline RL brings no advantage: MNL-Q is slightly worse than supervised (3.89 vs 4.06), as Prop. 2 predicts. The online DQN is better at s = 0 (4.37), but for a short-term reason: interacting with the simulator gives it better click estimates; its first-slate CTR is also the highest, 0.304. At s = 0 the best possible policy is myopic. Second, for s &gt; 0 supervised keeps showing clickable junk: at s = 1.0 it is no better than popularity (1.18 clicks/session, length 4.6). MNL-Q gives up a little CTR (0.275 vs 0.299), clicks 43% less junk (0.33 vs 0.58), keeps users longer (5.6 steps) and its advantage over supervised grows with s: −4% at s = 0.0, +1% at s = 0.25, +5% at s = 0.5, +11% at s = 1.0. Negatives: a plain DQN over all 500 items was worse than supervised (about 1.05 clicks/session at s = 1 in a single tuning run, against 1.21 for supervised in that run) because the max over noisy Q estimates picks overestimated items; the top-20 re-ranker fixed that but only matches supervised for s &gt; 0 after 3,000 interaction steps. And the 'highest estimated rating' heuristic beats every learned agent for s &gt; 0 (1.62 at s = 1.0) because it avoids low-rated movies by construction; the quality oracle reaches 2.03, so our agents recover only part of the gain. Closing that gap is a second-half goal.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is app/demo.py, run with 'streamlit run app/demo.py' after training the demo models. In the live session one simulated user meets two recommenders side by side with identical random draws, so any difference is due to the policy. Per step it shows the movie (junk flagged), click probability, whether the user clicked, satisfaction and whether the user left, plus totals for clicks, session length and first-step CTR. A slider sets the strength s: at s = 0 the two sessions look alike; at high s the supervised one ends early. A second tab shows all tables and figures from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CPU only, so RetailRocket results are partial (1 seed, 2-3 epochs) until the GPU run finishes; the simulator's long-term dynamics are assumed, not learned from data, which is why s is a knob and s = 0 a control; 3 seeds only; KuaiRec replaced by MovieLens-1M; datasets from GitHub mirrors. Plan: first a regime map of the RL advantage over K in {1, 3, 5, 10}, strength s and gamma, compared to the toy-model prediction. Second, a neural MNL-Q re-ranker for K &gt; 1 with item-level choice and value heads and the exact LP assortment solver, trained offline with a conservative penalty. Third, baselines: a PISDR-style offline RL re-ranker from Yuan et al., SQN/EVAL heads, and a diversity/quality re-ranking heuristic. Then ablations on logging policy, candidate set size and gamma, closing the gap to the rating heuristic, and the full RetailRocket results.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one-sentence takeaway and invite questions. Likely questions: why the rating heuristic wins (our learned agents only see 2 logged sessions per user), whether the simulator is realistic (dynamics assumed; s = 0 is the control), and why SQN is below CE on RetailRocket (only 2-3 epochs; GPU run pending).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554480"/>
            <a:ext cx="10332720" cy="1645920"/>
          </a:xfrm>
          <a:prstGeom prst="rect">
            <a:avLst/>
          </a:prstGeom>
          <a:noFill/>
        </p:spPr>
        <p:txBody>
          <a:bodyPr wrap="square" anchor="t" lIns="45720" rIns="45720">
            <a:spAutoFit/>
          </a:bodyPr>
          <a:lstStyle/>
          <a:p>
            <a:pPr algn="l"/>
            <a:r>
              <a:rPr sz="4000" b="1" i="0">
                <a:solidFill>
                  <a:srgbClr val="1F3A5F"/>
                </a:solidFill>
                <a:latin typeface="Calibri"/>
              </a:rPr>
              <a:t>When does RL beat a supervised recommender on long-term utility?</a:t>
            </a:r>
          </a:p>
        </p:txBody>
      </p:sp>
      <p:sp>
        <p:nvSpPr>
          <p:cNvPr id="4" name="TextBox 3"/>
          <p:cNvSpPr txBox="1"/>
          <p:nvPr/>
        </p:nvSpPr>
        <p:spPr>
          <a:xfrm>
            <a:off x="914400" y="3246120"/>
            <a:ext cx="10332720" cy="548640"/>
          </a:xfrm>
          <a:prstGeom prst="rect">
            <a:avLst/>
          </a:prstGeom>
          <a:noFill/>
        </p:spPr>
        <p:txBody>
          <a:bodyPr wrap="square" anchor="t" lIns="45720" rIns="45720">
            <a:spAutoFit/>
          </a:bodyPr>
          <a:lstStyle/>
          <a:p>
            <a:pPr algn="l"/>
            <a:r>
              <a:rPr sz="2200" b="0" i="0">
                <a:solidFill>
                  <a:srgbClr val="222222"/>
                </a:solidFill>
                <a:latin typeface="Calibri"/>
              </a:rPr>
              <a:t>RL for Sequential Recommendation (course project topic 3.9)  |  Mid-semester review</a:t>
            </a:r>
          </a:p>
        </p:txBody>
      </p:sp>
      <p:sp>
        <p:nvSpPr>
          <p:cNvPr id="5" name="TextBox 4"/>
          <p:cNvSpPr txBox="1"/>
          <p:nvPr/>
        </p:nvSpPr>
        <p:spPr>
          <a:xfrm>
            <a:off x="914400" y="4389120"/>
            <a:ext cx="10332720" cy="914400"/>
          </a:xfrm>
          <a:prstGeom prst="rect">
            <a:avLst/>
          </a:prstGeom>
          <a:noFill/>
        </p:spPr>
        <p:txBody>
          <a:bodyPr wrap="square" anchor="t" lIns="45720" rIns="45720">
            <a:spAutoFit/>
          </a:bodyPr>
          <a:lstStyle/>
          <a:p>
            <a:pPr algn="l"/>
            <a:r>
              <a:rPr sz="2000" b="0" i="0">
                <a:solidFill>
                  <a:srgbClr val="666666"/>
                </a:solidFill>
                <a:latin typeface="Calibri"/>
              </a:rPr>
              <a:t>Samyak Bansal</a:t>
            </a:r>
          </a:p>
          <a:p>
            <a:pPr algn="l"/>
            <a:r>
              <a:rPr sz="2000" b="0" i="0">
                <a:solidFill>
                  <a:srgbClr val="666666"/>
                </a:solidFill>
                <a:latin typeface="Calibri"/>
              </a:rPr>
              <a:t>18 October 2026</a:t>
            </a:r>
          </a:p>
        </p:txBody>
      </p:sp>
      <p:sp>
        <p:nvSpPr>
          <p:cNvPr id="6" name="TextBox 5"/>
          <p:cNvSpPr txBox="1"/>
          <p:nvPr/>
        </p:nvSpPr>
        <p:spPr>
          <a:xfrm>
            <a:off x="914400" y="5943600"/>
            <a:ext cx="10332720" cy="365760"/>
          </a:xfrm>
          <a:prstGeom prst="rect">
            <a:avLst/>
          </a:prstGeom>
          <a:noFill/>
        </p:spPr>
        <p:txBody>
          <a:bodyPr wrap="square" anchor="t" lIns="45720" rIns="45720">
            <a:spAutoFit/>
          </a:bodyPr>
          <a:lstStyle/>
          <a:p>
            <a:pPr algn="l"/>
            <a:r>
              <a:rPr sz="1400" b="0" i="0">
                <a:solidFill>
                  <a:srgbClr val="666666"/>
                </a:solidFill>
                <a:latin typeface="Calibri"/>
              </a:rPr>
              <a:t>Code: github.com/samyakbansal5-eng/rl-seqrec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The question: a click now, or engagement later?</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2</a:t>
            </a:r>
          </a:p>
        </p:txBody>
      </p:sp>
      <p:sp>
        <p:nvSpPr>
          <p:cNvPr id="5" name="TextBox 4"/>
          <p:cNvSpPr txBox="1"/>
          <p:nvPr/>
        </p:nvSpPr>
        <p:spPr>
          <a:xfrm>
            <a:off x="548640" y="1417320"/>
            <a:ext cx="6583680" cy="4572000"/>
          </a:xfrm>
          <a:prstGeom prst="rect">
            <a:avLst/>
          </a:prstGeom>
          <a:noFill/>
        </p:spPr>
        <p:txBody>
          <a:bodyPr wrap="square">
            <a:spAutoFit/>
          </a:bodyPr>
          <a:lstStyle/>
          <a:p>
            <a:pPr>
              <a:spcAft>
                <a:spcPts val="1400"/>
              </a:spcAft>
            </a:pPr>
            <a:r>
              <a:rPr sz="1400" b="0" i="0">
                <a:solidFill>
                  <a:srgbClr val="1F3A5F"/>
                </a:solidFill>
                <a:latin typeface="Calibri"/>
              </a:rPr>
              <a:t>■  </a:t>
            </a:r>
            <a:r>
              <a:rPr sz="2000" b="1" i="0">
                <a:solidFill>
                  <a:srgbClr val="1F3A5F"/>
                </a:solidFill>
                <a:latin typeface="Calibri"/>
              </a:rPr>
              <a:t>Supervised</a:t>
            </a:r>
            <a:r>
              <a:rPr sz="2000" b="0" i="0">
                <a:solidFill>
                  <a:srgbClr val="222222"/>
                </a:solidFill>
                <a:latin typeface="Calibri"/>
              </a:rPr>
              <a:t> next-click model: maximises </a:t>
            </a:r>
            <a:r>
              <a:rPr sz="2000" b="1" i="0">
                <a:solidFill>
                  <a:srgbClr val="1F3A5F"/>
                </a:solidFill>
                <a:latin typeface="Calibri"/>
              </a:rPr>
              <a:t>CTR now</a:t>
            </a:r>
            <a:r>
              <a:rPr sz="2000" b="0" i="0">
                <a:solidFill>
                  <a:srgbClr val="222222"/>
                </a:solidFill>
                <a:latin typeface="Calibri"/>
              </a:rPr>
              <a:t> (short-term)</a:t>
            </a:r>
          </a:p>
          <a:p>
            <a:pPr>
              <a:spcAft>
                <a:spcPts val="1400"/>
              </a:spcAft>
            </a:pPr>
            <a:r>
              <a:rPr sz="1400" b="0" i="0">
                <a:solidFill>
                  <a:srgbClr val="1F3A5F"/>
                </a:solidFill>
                <a:latin typeface="Calibri"/>
              </a:rPr>
              <a:t>■  </a:t>
            </a:r>
            <a:r>
              <a:rPr sz="2000" b="1" i="0">
                <a:solidFill>
                  <a:srgbClr val="1F3A5F"/>
                </a:solidFill>
                <a:latin typeface="Calibri"/>
              </a:rPr>
              <a:t>RL</a:t>
            </a:r>
            <a:r>
              <a:rPr sz="2000" b="0" i="0">
                <a:solidFill>
                  <a:srgbClr val="222222"/>
                </a:solidFill>
                <a:latin typeface="Calibri"/>
              </a:rPr>
              <a:t> recommender: maximises discounted </a:t>
            </a:r>
            <a:r>
              <a:rPr sz="2000" b="1" i="0">
                <a:solidFill>
                  <a:srgbClr val="1F3A5F"/>
                </a:solidFill>
                <a:latin typeface="Calibri"/>
              </a:rPr>
              <a:t>future</a:t>
            </a:r>
            <a:r>
              <a:rPr sz="2000" b="0" i="0">
                <a:solidFill>
                  <a:srgbClr val="222222"/>
                </a:solidFill>
                <a:latin typeface="Calibri"/>
              </a:rPr>
              <a:t> clicks (long-term)</a:t>
            </a:r>
          </a:p>
          <a:p>
            <a:pPr>
              <a:spcAft>
                <a:spcPts val="1400"/>
              </a:spcAft>
            </a:pPr>
            <a:r>
              <a:rPr sz="1400" b="0" i="0">
                <a:solidFill>
                  <a:srgbClr val="1F3A5F"/>
                </a:solidFill>
                <a:latin typeface="Calibri"/>
              </a:rPr>
              <a:t>■  </a:t>
            </a:r>
            <a:r>
              <a:rPr sz="2000" b="0" i="0">
                <a:solidFill>
                  <a:srgbClr val="222222"/>
                </a:solidFill>
                <a:latin typeface="Calibri"/>
              </a:rPr>
              <a:t>RL can trade a click now for a longer, happier session</a:t>
            </a:r>
          </a:p>
          <a:p>
            <a:pPr>
              <a:spcAft>
                <a:spcPts val="1400"/>
              </a:spcAft>
            </a:pPr>
            <a:r>
              <a:rPr sz="1400" b="0" i="0">
                <a:solidFill>
                  <a:srgbClr val="1F3A5F"/>
                </a:solidFill>
                <a:latin typeface="Calibri"/>
              </a:rPr>
              <a:t>■  </a:t>
            </a:r>
            <a:r>
              <a:rPr sz="2000" b="0" i="0">
                <a:solidFill>
                  <a:srgbClr val="222222"/>
                </a:solidFill>
                <a:latin typeface="Calibri"/>
              </a:rPr>
              <a:t>Topic 3.9 asks: </a:t>
            </a:r>
            <a:r>
              <a:rPr sz="2000" b="1" i="0">
                <a:solidFill>
                  <a:srgbClr val="1F3A5F"/>
                </a:solidFill>
                <a:latin typeface="Calibri"/>
              </a:rPr>
              <a:t>when does RL actually win on long-term utility?</a:t>
            </a:r>
          </a:p>
          <a:p>
            <a:pPr>
              <a:spcAft>
                <a:spcPts val="1400"/>
              </a:spcAft>
            </a:pPr>
            <a:r>
              <a:rPr sz="1400" b="0" i="0">
                <a:solidFill>
                  <a:srgbClr val="1F3A5F"/>
                </a:solidFill>
                <a:latin typeface="Calibri"/>
              </a:rPr>
              <a:t>■  </a:t>
            </a:r>
            <a:r>
              <a:rPr sz="2000" b="0" i="0">
                <a:solidFill>
                  <a:srgbClr val="222222"/>
                </a:solidFill>
                <a:latin typeface="Calibri"/>
              </a:rPr>
              <a:t>Extension: </a:t>
            </a:r>
            <a:r>
              <a:rPr sz="2000" b="1" i="0">
                <a:solidFill>
                  <a:srgbClr val="1F3A5F"/>
                </a:solidFill>
                <a:latin typeface="Calibri"/>
              </a:rPr>
              <a:t>re-ranking</a:t>
            </a:r>
            <a:r>
              <a:rPr sz="2000" b="0" i="0">
                <a:solidFill>
                  <a:srgbClr val="222222"/>
                </a:solidFill>
                <a:latin typeface="Calibri"/>
              </a:rPr>
              <a:t>, showing a slate of K items at once</a:t>
            </a:r>
          </a:p>
        </p:txBody>
      </p:sp>
      <p:sp>
        <p:nvSpPr>
          <p:cNvPr id="6" name="Rounded Rectangle 5"/>
          <p:cNvSpPr/>
          <p:nvPr/>
        </p:nvSpPr>
        <p:spPr>
          <a:xfrm>
            <a:off x="7589520" y="1508760"/>
            <a:ext cx="4023360" cy="146304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800" b="1" i="0">
                <a:solidFill>
                  <a:srgbClr val="1F3A5F"/>
                </a:solidFill>
                <a:latin typeface="Calibri"/>
              </a:rPr>
              <a:t>Short-term metric</a:t>
            </a:r>
          </a:p>
          <a:p>
            <a:pPr>
              <a:spcBef>
                <a:spcPts val="500"/>
              </a:spcBef>
            </a:pPr>
            <a:r>
              <a:rPr sz="1700" b="0" i="0">
                <a:solidFill>
                  <a:srgbClr val="222222"/>
                </a:solidFill>
                <a:latin typeface="Calibri"/>
              </a:rPr>
              <a:t>First-slate CTR = 1 - P(no click)</a:t>
            </a:r>
          </a:p>
        </p:txBody>
      </p:sp>
      <p:sp>
        <p:nvSpPr>
          <p:cNvPr id="7" name="Rounded Rectangle 6"/>
          <p:cNvSpPr/>
          <p:nvPr/>
        </p:nvSpPr>
        <p:spPr>
          <a:xfrm>
            <a:off x="7589520" y="3246120"/>
            <a:ext cx="4023360" cy="146304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800" b="1" i="0">
                <a:solidFill>
                  <a:srgbClr val="1F3A5F"/>
                </a:solidFill>
                <a:latin typeface="Calibri"/>
              </a:rPr>
              <a:t>Long-term metric</a:t>
            </a:r>
          </a:p>
          <a:p>
            <a:pPr>
              <a:spcBef>
                <a:spcPts val="500"/>
              </a:spcBef>
            </a:pPr>
            <a:r>
              <a:rPr sz="1700" b="0" i="0">
                <a:solidFill>
                  <a:srgbClr val="222222"/>
                </a:solidFill>
                <a:latin typeface="Calibri"/>
              </a:rPr>
              <a:t>Clicks per session (return, γ = 1) and session length</a:t>
            </a:r>
          </a:p>
        </p:txBody>
      </p:sp>
      <p:sp>
        <p:nvSpPr>
          <p:cNvPr id="8" name="Rectangle 7"/>
          <p:cNvSpPr/>
          <p:nvPr/>
        </p:nvSpPr>
        <p:spPr>
          <a:xfrm>
            <a:off x="548640" y="5486400"/>
            <a:ext cx="11094415" cy="6400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800" b="1" i="0">
                <a:solidFill>
                  <a:srgbClr val="FFFFFF"/>
                </a:solidFill>
                <a:latin typeface="Calibri"/>
              </a:rPr>
              <a:t>Approach: put both recommenders inside one model, so the comparison is precise rather than anecdotal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One model for both: combinatorial MDP with MNL choice</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3</a:t>
            </a:r>
          </a:p>
        </p:txBody>
      </p:sp>
      <p:sp>
        <p:nvSpPr>
          <p:cNvPr id="5" name="TextBox 4"/>
          <p:cNvSpPr txBox="1"/>
          <p:nvPr/>
        </p:nvSpPr>
        <p:spPr>
          <a:xfrm>
            <a:off x="548640" y="1371600"/>
            <a:ext cx="5852160" cy="4206240"/>
          </a:xfrm>
          <a:prstGeom prst="rect">
            <a:avLst/>
          </a:prstGeom>
          <a:noFill/>
        </p:spPr>
        <p:txBody>
          <a:bodyPr wrap="square">
            <a:spAutoFit/>
          </a:bodyPr>
          <a:lstStyle/>
          <a:p>
            <a:pPr>
              <a:spcAft>
                <a:spcPts val="1200"/>
              </a:spcAft>
            </a:pPr>
            <a:r>
              <a:rPr sz="1200" b="0" i="0">
                <a:solidFill>
                  <a:srgbClr val="1F3A5F"/>
                </a:solidFill>
                <a:latin typeface="Calibri"/>
              </a:rPr>
              <a:t>■  </a:t>
            </a:r>
            <a:r>
              <a:rPr sz="1800" b="0" i="0">
                <a:solidFill>
                  <a:srgbClr val="222222"/>
                </a:solidFill>
                <a:latin typeface="Calibri"/>
              </a:rPr>
              <a:t>State s: user, recent clicks, step. Action: slate A of ≤ K items</a:t>
            </a:r>
          </a:p>
          <a:p>
            <a:pPr>
              <a:spcAft>
                <a:spcPts val="1200"/>
              </a:spcAft>
            </a:pPr>
            <a:r>
              <a:rPr sz="1200" b="0" i="0">
                <a:solidFill>
                  <a:srgbClr val="1F3A5F"/>
                </a:solidFill>
                <a:latin typeface="Calibri"/>
              </a:rPr>
              <a:t>■  </a:t>
            </a:r>
            <a:r>
              <a:rPr sz="1800" b="0" i="0">
                <a:solidFill>
                  <a:srgbClr val="222222"/>
                </a:solidFill>
                <a:latin typeface="Calibri"/>
              </a:rPr>
              <a:t>User picks a ∈ A or </a:t>
            </a:r>
            <a:r>
              <a:rPr sz="1800" b="1" i="0">
                <a:solidFill>
                  <a:srgbClr val="1F3A5F"/>
                </a:solidFill>
                <a:latin typeface="Calibri"/>
              </a:rPr>
              <a:t>no click a₀</a:t>
            </a:r>
            <a:r>
              <a:rPr sz="1800" b="0" i="0">
                <a:solidFill>
                  <a:srgbClr val="222222"/>
                </a:solidFill>
                <a:latin typeface="Calibri"/>
              </a:rPr>
              <a:t> with MNL probability</a:t>
            </a:r>
          </a:p>
          <a:p>
            <a:pPr>
              <a:spcAft>
                <a:spcPts val="1200"/>
              </a:spcAft>
            </a:pPr>
            <a:r>
              <a:rPr sz="1200" b="0" i="0">
                <a:solidFill>
                  <a:srgbClr val="1F3A5F"/>
                </a:solidFill>
                <a:latin typeface="Calibri"/>
              </a:rPr>
              <a:t>■  </a:t>
            </a:r>
            <a:r>
              <a:rPr sz="1800" b="0" i="0">
                <a:solidFill>
                  <a:srgbClr val="222222"/>
                </a:solidFill>
                <a:latin typeface="Calibri"/>
              </a:rPr>
              <a:t>Reward 1 per click; next state depends on </a:t>
            </a:r>
            <a:r>
              <a:rPr sz="1800" b="1" i="0">
                <a:solidFill>
                  <a:srgbClr val="1F3A5F"/>
                </a:solidFill>
                <a:latin typeface="Calibri"/>
              </a:rPr>
              <a:t>what was picked</a:t>
            </a:r>
          </a:p>
          <a:p>
            <a:pPr>
              <a:spcAft>
                <a:spcPts val="1200"/>
              </a:spcAft>
            </a:pPr>
            <a:r>
              <a:rPr sz="1200" b="0" i="0">
                <a:solidFill>
                  <a:srgbClr val="1F3A5F"/>
                </a:solidFill>
                <a:latin typeface="Calibri"/>
              </a:rPr>
              <a:t>■  </a:t>
            </a:r>
            <a:r>
              <a:rPr sz="1800" b="0" i="0">
                <a:solidFill>
                  <a:srgbClr val="222222"/>
                </a:solidFill>
                <a:latin typeface="Calibri"/>
              </a:rPr>
              <a:t>K = 1: sequential recommendation; K &gt; 1: re-ranking</a:t>
            </a:r>
          </a:p>
          <a:p>
            <a:pPr>
              <a:spcAft>
                <a:spcPts val="1200"/>
              </a:spcAft>
            </a:pPr>
            <a:r>
              <a:rPr sz="1200" b="0" i="0">
                <a:solidFill>
                  <a:srgbClr val="1F3A5F"/>
                </a:solidFill>
                <a:latin typeface="Calibri"/>
              </a:rPr>
              <a:t>■  </a:t>
            </a:r>
            <a:r>
              <a:rPr sz="1800" b="0" i="0">
                <a:solidFill>
                  <a:srgbClr val="222222"/>
                </a:solidFill>
                <a:latin typeface="Calibri"/>
              </a:rPr>
              <a:t>Best slate = linear-fractional program (LP via Charnes-Cooper, or bisection; checked vs brute force)</a:t>
            </a:r>
          </a:p>
        </p:txBody>
      </p:sp>
      <p:sp>
        <p:nvSpPr>
          <p:cNvPr id="6" name="Rounded Rectangle 5"/>
          <p:cNvSpPr/>
          <p:nvPr/>
        </p:nvSpPr>
        <p:spPr>
          <a:xfrm>
            <a:off x="6675120" y="1371600"/>
            <a:ext cx="4937760" cy="224028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800" b="1" i="0">
                <a:solidFill>
                  <a:srgbClr val="1F3A5F"/>
                </a:solidFill>
                <a:latin typeface="Calibri"/>
              </a:rPr>
              <a:t>Choice model and slate value</a:t>
            </a:r>
          </a:p>
          <a:p>
            <a:pPr>
              <a:spcBef>
                <a:spcPts val="500"/>
              </a:spcBef>
            </a:pPr>
            <a:r>
              <a:rPr sz="1700" b="0" i="0">
                <a:solidFill>
                  <a:srgbClr val="222222"/>
                </a:solidFill>
                <a:latin typeface="Calibri"/>
              </a:rPr>
              <a:t>P(a | s, A) = e^v(s,a) / (1 + Σ_{a'∈A} e^v(s,a'))</a:t>
            </a:r>
          </a:p>
          <a:p>
            <a:pPr>
              <a:spcBef>
                <a:spcPts val="500"/>
              </a:spcBef>
            </a:pPr>
            <a:r>
              <a:rPr sz="1700" b="0" i="0">
                <a:solidFill>
                  <a:srgbClr val="222222"/>
                </a:solidFill>
                <a:latin typeface="Calibri"/>
              </a:rPr>
              <a:t>Q̄(s,a) = r(s,a) + γ E[V(s')]</a:t>
            </a:r>
          </a:p>
          <a:p>
            <a:pPr>
              <a:spcBef>
                <a:spcPts val="500"/>
              </a:spcBef>
            </a:pPr>
            <a:r>
              <a:rPr sz="1700" b="0" i="0">
                <a:solidFill>
                  <a:srgbClr val="222222"/>
                </a:solidFill>
                <a:latin typeface="Calibri"/>
              </a:rPr>
              <a:t>Q(s,A) = Σ_{a ∈ A ∪ {a₀}} P(a | s, A) · Q̄(s,a)</a:t>
            </a:r>
          </a:p>
        </p:txBody>
      </p:sp>
      <p:sp>
        <p:nvSpPr>
          <p:cNvPr id="7" name="Rounded Rectangle 6"/>
          <p:cNvSpPr/>
          <p:nvPr/>
        </p:nvSpPr>
        <p:spPr>
          <a:xfrm>
            <a:off x="6675120" y="3840480"/>
            <a:ext cx="4937760" cy="169164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700" b="1" i="0">
                <a:solidFill>
                  <a:srgbClr val="1F3A5F"/>
                </a:solidFill>
                <a:latin typeface="Calibri"/>
              </a:rPr>
              <a:t>Lemma 1: supervised = myopic (γ = 0)</a:t>
            </a:r>
          </a:p>
          <a:p>
            <a:pPr>
              <a:spcBef>
                <a:spcPts val="500"/>
              </a:spcBef>
            </a:pPr>
            <a:r>
              <a:rPr sz="1600" b="0" i="0">
                <a:solidFill>
                  <a:srgbClr val="222222"/>
                </a:solidFill>
                <a:latin typeface="Calibri"/>
              </a:rPr>
              <a:t>Click prob. W/(1+W) grows in W = Σ e^v, so top-K by utility is myopic-optimal; a CE next-click model recovers utilities up to a constant</a:t>
            </a:r>
          </a:p>
        </p:txBody>
      </p:sp>
      <p:sp>
        <p:nvSpPr>
          <p:cNvPr id="8" name="Rectangle 7"/>
          <p:cNvSpPr/>
          <p:nvPr/>
        </p:nvSpPr>
        <p:spPr>
          <a:xfrm>
            <a:off x="548640" y="5532120"/>
            <a:ext cx="11094415" cy="5943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800" b="1" i="0">
                <a:solidFill>
                  <a:srgbClr val="FFFFFF"/>
                </a:solidFill>
                <a:latin typeface="Calibri"/>
              </a:rPr>
              <a:t>"Supervised vs RL" becomes "γ = 0 vs γ &gt; 0" in the same model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When can RL help? Two propositions</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4</a:t>
            </a:r>
          </a:p>
        </p:txBody>
      </p:sp>
      <p:sp>
        <p:nvSpPr>
          <p:cNvPr id="5" name="Rounded Rectangle 4"/>
          <p:cNvSpPr/>
          <p:nvPr/>
        </p:nvSpPr>
        <p:spPr>
          <a:xfrm>
            <a:off x="548640" y="1371600"/>
            <a:ext cx="5318607" cy="301752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700" b="1" i="0">
                <a:solidFill>
                  <a:srgbClr val="1F3A5F"/>
                </a:solidFill>
                <a:latin typeface="Calibri"/>
              </a:rPr>
              <a:t>Proposition 1: RL can be arbitrarily better</a:t>
            </a:r>
          </a:p>
          <a:p>
            <a:pPr>
              <a:spcBef>
                <a:spcPts val="500"/>
              </a:spcBef>
            </a:pPr>
            <a:r>
              <a:rPr sz="1600" b="0" i="0">
                <a:solidFill>
                  <a:srgbClr val="222222"/>
                </a:solidFill>
                <a:latin typeface="Calibri"/>
              </a:rPr>
              <a:t>For any n there is an MDP with optimal long-term return &gt; n × myopic return.</a:t>
            </a:r>
          </a:p>
          <a:p>
            <a:pPr>
              <a:spcBef>
                <a:spcPts val="500"/>
              </a:spcBef>
            </a:pPr>
            <a:r>
              <a:rPr sz="1600" b="1" i="0">
                <a:solidFill>
                  <a:srgbClr val="1F3A5F"/>
                </a:solidFill>
                <a:latin typeface="Calibri"/>
              </a:rPr>
              <a:t>Intuition:</a:t>
            </a:r>
            <a:r>
              <a:rPr sz="1600" b="0" i="0">
                <a:solidFill>
                  <a:srgbClr val="222222"/>
                </a:solidFill>
                <a:latin typeface="Calibri"/>
              </a:rPr>
              <a:t> clickable junk makes the user leave; myopic always shows it and gets ≤ 1 click.</a:t>
            </a:r>
          </a:p>
          <a:p>
            <a:pPr>
              <a:spcBef>
                <a:spcPts val="500"/>
              </a:spcBef>
            </a:pPr>
            <a:r>
              <a:rPr sz="1600" b="0" i="0">
                <a:solidFill>
                  <a:srgbClr val="222222"/>
                </a:solidFill>
                <a:latin typeface="Calibri"/>
              </a:rPr>
              <a:t>Dual of Labarca et al. Thm 4.3 (RL-optimal can be arbitrarily worse at next-item prediction).</a:t>
            </a:r>
          </a:p>
        </p:txBody>
      </p:sp>
      <p:sp>
        <p:nvSpPr>
          <p:cNvPr id="6" name="Rounded Rectangle 5"/>
          <p:cNvSpPr/>
          <p:nvPr/>
        </p:nvSpPr>
        <p:spPr>
          <a:xfrm>
            <a:off x="6324447" y="1371600"/>
            <a:ext cx="5318607" cy="301752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700" b="1" i="0">
                <a:solidFill>
                  <a:srgbClr val="1F3A5F"/>
                </a:solidFill>
                <a:latin typeface="Calibri"/>
              </a:rPr>
              <a:t>Proposition 2: no advantage without choice-dependent dynamics</a:t>
            </a:r>
          </a:p>
          <a:p>
            <a:pPr>
              <a:spcBef>
                <a:spcPts val="500"/>
              </a:spcBef>
            </a:pPr>
            <a:r>
              <a:rPr sz="1600" b="0" i="0">
                <a:solidFill>
                  <a:srgbClr val="222222"/>
                </a:solidFill>
                <a:latin typeface="Calibri"/>
              </a:rPr>
              <a:t>If p(s' | s, a) does not depend on the chosen item a, myopic is optimal for every γ.</a:t>
            </a:r>
          </a:p>
          <a:p>
            <a:pPr>
              <a:spcBef>
                <a:spcPts val="500"/>
              </a:spcBef>
            </a:pPr>
            <a:r>
              <a:rPr sz="1600" b="1" i="0">
                <a:solidFill>
                  <a:srgbClr val="1F3A5F"/>
                </a:solidFill>
                <a:latin typeface="Calibri"/>
              </a:rPr>
              <a:t>Intuition:</a:t>
            </a:r>
            <a:r>
              <a:rPr sz="1600" b="0" i="0">
                <a:solidFill>
                  <a:srgbClr val="222222"/>
                </a:solidFill>
                <a:latin typeface="Calibri"/>
              </a:rPr>
              <a:t> the future term is the same for every item, so Q(s,A) = immediate reward + c(s).</a:t>
            </a:r>
          </a:p>
        </p:txBody>
      </p:sp>
      <p:sp>
        <p:nvSpPr>
          <p:cNvPr id="7" name="Rectangle 6"/>
          <p:cNvSpPr/>
          <p:nvPr/>
        </p:nvSpPr>
        <p:spPr>
          <a:xfrm>
            <a:off x="548640" y="4663440"/>
            <a:ext cx="1109441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200" b="1" i="0">
                <a:solidFill>
                  <a:srgbClr val="FFFFFF"/>
                </a:solidFill>
                <a:latin typeface="Calibri"/>
              </a:rPr>
              <a:t>Corollary: RL helps only if the user's choice changes their future</a:t>
            </a:r>
          </a:p>
        </p:txBody>
      </p:sp>
      <p:sp>
        <p:nvSpPr>
          <p:cNvPr id="8" name="TextBox 7"/>
          <p:cNvSpPr txBox="1"/>
          <p:nvPr/>
        </p:nvSpPr>
        <p:spPr>
          <a:xfrm>
            <a:off x="548640" y="5669280"/>
            <a:ext cx="11094415" cy="457200"/>
          </a:xfrm>
          <a:prstGeom prst="rect">
            <a:avLst/>
          </a:prstGeom>
          <a:noFill/>
        </p:spPr>
        <p:txBody>
          <a:bodyPr wrap="square" anchor="t" lIns="45720" rIns="45720">
            <a:spAutoFit/>
          </a:bodyPr>
          <a:lstStyle/>
          <a:p>
            <a:pPr algn="l"/>
            <a:r>
              <a:rPr sz="1600" b="0" i="0">
                <a:solidFill>
                  <a:srgbClr val="666666"/>
                </a:solidFill>
                <a:latin typeface="Calibri"/>
              </a:rPr>
              <a:t>Axes of the regime map: strength of that dependence (s), slate size K (two-type toy model, formulation.tex Section 4), and 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What was built: S1 to S9</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5</a:t>
            </a:r>
          </a:p>
        </p:txBody>
      </p:sp>
      <p:sp>
        <p:nvSpPr>
          <p:cNvPr id="5" name="Rectangle 4"/>
          <p:cNvSpPr/>
          <p:nvPr/>
        </p:nvSpPr>
        <p:spPr>
          <a:xfrm>
            <a:off x="548640" y="2057400"/>
            <a:ext cx="1094536" cy="685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Calibri"/>
              </a:rPr>
              <a:t>S1</a:t>
            </a:r>
          </a:p>
        </p:txBody>
      </p:sp>
      <p:sp>
        <p:nvSpPr>
          <p:cNvPr id="6" name="TextBox 5"/>
          <p:cNvSpPr txBox="1"/>
          <p:nvPr/>
        </p:nvSpPr>
        <p:spPr>
          <a:xfrm>
            <a:off x="502920" y="2834640"/>
            <a:ext cx="1185976" cy="457200"/>
          </a:xfrm>
          <a:prstGeom prst="rect">
            <a:avLst/>
          </a:prstGeom>
          <a:noFill/>
        </p:spPr>
        <p:txBody>
          <a:bodyPr wrap="square" anchor="t" lIns="45720" rIns="45720">
            <a:spAutoFit/>
          </a:bodyPr>
          <a:lstStyle/>
          <a:p>
            <a:pPr algn="ctr"/>
            <a:r>
              <a:rPr sz="1500" b="1" i="0">
                <a:solidFill>
                  <a:srgbClr val="1F3A5F"/>
                </a:solidFill>
                <a:latin typeface="Calibri"/>
              </a:rPr>
              <a:t>Data</a:t>
            </a:r>
          </a:p>
        </p:txBody>
      </p:sp>
      <p:sp>
        <p:nvSpPr>
          <p:cNvPr id="7" name="TextBox 6"/>
          <p:cNvSpPr txBox="1"/>
          <p:nvPr/>
        </p:nvSpPr>
        <p:spPr>
          <a:xfrm>
            <a:off x="475488" y="3246120"/>
            <a:ext cx="1240840" cy="914400"/>
          </a:xfrm>
          <a:prstGeom prst="rect">
            <a:avLst/>
          </a:prstGeom>
          <a:noFill/>
        </p:spPr>
        <p:txBody>
          <a:bodyPr wrap="square" anchor="t" lIns="45720" rIns="45720">
            <a:spAutoFit/>
          </a:bodyPr>
          <a:lstStyle/>
          <a:p>
            <a:pPr algn="ctr"/>
            <a:r>
              <a:rPr sz="1200" b="0" i="0">
                <a:solidFill>
                  <a:srgbClr val="222222"/>
                </a:solidFill>
                <a:latin typeface="Calibri"/>
              </a:rPr>
              <a:t>RetailRocket,</a:t>
            </a:r>
          </a:p>
          <a:p>
            <a:pPr algn="ctr"/>
            <a:r>
              <a:rPr sz="1200" b="0" i="0">
                <a:solidFill>
                  <a:srgbClr val="222222"/>
                </a:solidFill>
                <a:latin typeface="Calibri"/>
              </a:rPr>
              <a:t>MovieLens-1M</a:t>
            </a:r>
          </a:p>
        </p:txBody>
      </p:sp>
      <p:sp>
        <p:nvSpPr>
          <p:cNvPr id="8" name="Rectangle 7"/>
          <p:cNvSpPr/>
          <p:nvPr/>
        </p:nvSpPr>
        <p:spPr>
          <a:xfrm>
            <a:off x="1798624" y="2057400"/>
            <a:ext cx="1094536" cy="685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Calibri"/>
              </a:rPr>
              <a:t>S2</a:t>
            </a:r>
          </a:p>
        </p:txBody>
      </p:sp>
      <p:sp>
        <p:nvSpPr>
          <p:cNvPr id="9" name="TextBox 8"/>
          <p:cNvSpPr txBox="1"/>
          <p:nvPr/>
        </p:nvSpPr>
        <p:spPr>
          <a:xfrm>
            <a:off x="1752904" y="2834640"/>
            <a:ext cx="1185976" cy="457200"/>
          </a:xfrm>
          <a:prstGeom prst="rect">
            <a:avLst/>
          </a:prstGeom>
          <a:noFill/>
        </p:spPr>
        <p:txBody>
          <a:bodyPr wrap="square" anchor="t" lIns="45720" rIns="45720">
            <a:spAutoFit/>
          </a:bodyPr>
          <a:lstStyle/>
          <a:p>
            <a:pPr algn="ctr"/>
            <a:r>
              <a:rPr sz="1500" b="1" i="0">
                <a:solidFill>
                  <a:srgbClr val="1F3A5F"/>
                </a:solidFill>
                <a:latin typeface="Calibri"/>
              </a:rPr>
              <a:t>Theory</a:t>
            </a:r>
          </a:p>
        </p:txBody>
      </p:sp>
      <p:sp>
        <p:nvSpPr>
          <p:cNvPr id="10" name="TextBox 9"/>
          <p:cNvSpPr txBox="1"/>
          <p:nvPr/>
        </p:nvSpPr>
        <p:spPr>
          <a:xfrm>
            <a:off x="1725472" y="3246120"/>
            <a:ext cx="1240840" cy="914400"/>
          </a:xfrm>
          <a:prstGeom prst="rect">
            <a:avLst/>
          </a:prstGeom>
          <a:noFill/>
        </p:spPr>
        <p:txBody>
          <a:bodyPr wrap="square" anchor="t" lIns="45720" rIns="45720">
            <a:spAutoFit/>
          </a:bodyPr>
          <a:lstStyle/>
          <a:p>
            <a:pPr algn="ctr"/>
            <a:r>
              <a:rPr sz="1200" b="0" i="0">
                <a:solidFill>
                  <a:srgbClr val="222222"/>
                </a:solidFill>
                <a:latin typeface="Calibri"/>
              </a:rPr>
              <a:t>Lemma 1,</a:t>
            </a:r>
          </a:p>
          <a:p>
            <a:pPr algn="ctr"/>
            <a:r>
              <a:rPr sz="1200" b="0" i="0">
                <a:solidFill>
                  <a:srgbClr val="222222"/>
                </a:solidFill>
                <a:latin typeface="Calibri"/>
              </a:rPr>
              <a:t>Props 1-2</a:t>
            </a:r>
          </a:p>
        </p:txBody>
      </p:sp>
      <p:sp>
        <p:nvSpPr>
          <p:cNvPr id="11" name="Rectangle 10"/>
          <p:cNvSpPr/>
          <p:nvPr/>
        </p:nvSpPr>
        <p:spPr>
          <a:xfrm>
            <a:off x="3048609" y="2057400"/>
            <a:ext cx="1094536" cy="685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Calibri"/>
              </a:rPr>
              <a:t>S3</a:t>
            </a:r>
          </a:p>
        </p:txBody>
      </p:sp>
      <p:sp>
        <p:nvSpPr>
          <p:cNvPr id="12" name="TextBox 11"/>
          <p:cNvSpPr txBox="1"/>
          <p:nvPr/>
        </p:nvSpPr>
        <p:spPr>
          <a:xfrm>
            <a:off x="3002889" y="2834640"/>
            <a:ext cx="1185976" cy="457200"/>
          </a:xfrm>
          <a:prstGeom prst="rect">
            <a:avLst/>
          </a:prstGeom>
          <a:noFill/>
        </p:spPr>
        <p:txBody>
          <a:bodyPr wrap="square" anchor="t" lIns="45720" rIns="45720">
            <a:spAutoFit/>
          </a:bodyPr>
          <a:lstStyle/>
          <a:p>
            <a:pPr algn="ctr"/>
            <a:r>
              <a:rPr sz="1500" b="1" i="0">
                <a:solidFill>
                  <a:srgbClr val="1F3A5F"/>
                </a:solidFill>
                <a:latin typeface="Calibri"/>
              </a:rPr>
              <a:t>Slate solver</a:t>
            </a:r>
          </a:p>
        </p:txBody>
      </p:sp>
      <p:sp>
        <p:nvSpPr>
          <p:cNvPr id="13" name="TextBox 12"/>
          <p:cNvSpPr txBox="1"/>
          <p:nvPr/>
        </p:nvSpPr>
        <p:spPr>
          <a:xfrm>
            <a:off x="2975457" y="3246120"/>
            <a:ext cx="1240840" cy="914400"/>
          </a:xfrm>
          <a:prstGeom prst="rect">
            <a:avLst/>
          </a:prstGeom>
          <a:noFill/>
        </p:spPr>
        <p:txBody>
          <a:bodyPr wrap="square" anchor="t" lIns="45720" rIns="45720">
            <a:spAutoFit/>
          </a:bodyPr>
          <a:lstStyle/>
          <a:p>
            <a:pPr algn="ctr"/>
            <a:r>
              <a:rPr sz="1200" b="0" i="0">
                <a:solidFill>
                  <a:srgbClr val="222222"/>
                </a:solidFill>
                <a:latin typeface="Calibri"/>
              </a:rPr>
              <a:t>LP / bisection</a:t>
            </a:r>
          </a:p>
          <a:p>
            <a:pPr algn="ctr"/>
            <a:r>
              <a:rPr sz="1200" b="0" i="0">
                <a:solidFill>
                  <a:srgbClr val="222222"/>
                </a:solidFill>
                <a:latin typeface="Calibri"/>
              </a:rPr>
              <a:t>MNL assortment</a:t>
            </a:r>
          </a:p>
        </p:txBody>
      </p:sp>
      <p:sp>
        <p:nvSpPr>
          <p:cNvPr id="14" name="Rectangle 13"/>
          <p:cNvSpPr/>
          <p:nvPr/>
        </p:nvSpPr>
        <p:spPr>
          <a:xfrm>
            <a:off x="4298594" y="2057400"/>
            <a:ext cx="1094536" cy="685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Calibri"/>
              </a:rPr>
              <a:t>S4</a:t>
            </a:r>
          </a:p>
        </p:txBody>
      </p:sp>
      <p:sp>
        <p:nvSpPr>
          <p:cNvPr id="15" name="TextBox 14"/>
          <p:cNvSpPr txBox="1"/>
          <p:nvPr/>
        </p:nvSpPr>
        <p:spPr>
          <a:xfrm>
            <a:off x="4252874" y="2834640"/>
            <a:ext cx="1185976" cy="457200"/>
          </a:xfrm>
          <a:prstGeom prst="rect">
            <a:avLst/>
          </a:prstGeom>
          <a:noFill/>
        </p:spPr>
        <p:txBody>
          <a:bodyPr wrap="square" anchor="t" lIns="45720" rIns="45720">
            <a:spAutoFit/>
          </a:bodyPr>
          <a:lstStyle/>
          <a:p>
            <a:pPr algn="ctr"/>
            <a:r>
              <a:rPr sz="1500" b="1" i="0">
                <a:solidFill>
                  <a:srgbClr val="1F3A5F"/>
                </a:solidFill>
                <a:latin typeface="Calibri"/>
              </a:rPr>
              <a:t>Repro 1</a:t>
            </a:r>
          </a:p>
        </p:txBody>
      </p:sp>
      <p:sp>
        <p:nvSpPr>
          <p:cNvPr id="16" name="TextBox 15"/>
          <p:cNvSpPr txBox="1"/>
          <p:nvPr/>
        </p:nvSpPr>
        <p:spPr>
          <a:xfrm>
            <a:off x="4225442" y="3246120"/>
            <a:ext cx="1240840" cy="914400"/>
          </a:xfrm>
          <a:prstGeom prst="rect">
            <a:avLst/>
          </a:prstGeom>
          <a:noFill/>
        </p:spPr>
        <p:txBody>
          <a:bodyPr wrap="square" anchor="t" lIns="45720" rIns="45720">
            <a:spAutoFit/>
          </a:bodyPr>
          <a:lstStyle/>
          <a:p>
            <a:pPr algn="ctr"/>
            <a:r>
              <a:rPr sz="1200" b="0" i="0">
                <a:solidFill>
                  <a:srgbClr val="222222"/>
                </a:solidFill>
                <a:latin typeface="Calibri"/>
              </a:rPr>
              <a:t>Labarca et al.</a:t>
            </a:r>
          </a:p>
          <a:p>
            <a:pPr algn="ctr"/>
            <a:r>
              <a:rPr sz="1200" b="0" i="0">
                <a:solidFill>
                  <a:srgbClr val="222222"/>
                </a:solidFill>
                <a:latin typeface="Calibri"/>
              </a:rPr>
              <a:t>RetailRocket</a:t>
            </a:r>
          </a:p>
        </p:txBody>
      </p:sp>
      <p:sp>
        <p:nvSpPr>
          <p:cNvPr id="17" name="Rectangle 16"/>
          <p:cNvSpPr/>
          <p:nvPr/>
        </p:nvSpPr>
        <p:spPr>
          <a:xfrm>
            <a:off x="5548579" y="2057400"/>
            <a:ext cx="1094536" cy="685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Calibri"/>
              </a:rPr>
              <a:t>S5</a:t>
            </a:r>
          </a:p>
        </p:txBody>
      </p:sp>
      <p:sp>
        <p:nvSpPr>
          <p:cNvPr id="18" name="TextBox 17"/>
          <p:cNvSpPr txBox="1"/>
          <p:nvPr/>
        </p:nvSpPr>
        <p:spPr>
          <a:xfrm>
            <a:off x="5502859" y="2834640"/>
            <a:ext cx="1185976" cy="457200"/>
          </a:xfrm>
          <a:prstGeom prst="rect">
            <a:avLst/>
          </a:prstGeom>
          <a:noFill/>
        </p:spPr>
        <p:txBody>
          <a:bodyPr wrap="square" anchor="t" lIns="45720" rIns="45720">
            <a:spAutoFit/>
          </a:bodyPr>
          <a:lstStyle/>
          <a:p>
            <a:pPr algn="ctr"/>
            <a:r>
              <a:rPr sz="1500" b="1" i="0">
                <a:solidFill>
                  <a:srgbClr val="1F3A5F"/>
                </a:solidFill>
                <a:latin typeface="Calibri"/>
              </a:rPr>
              <a:t>Repro 2</a:t>
            </a:r>
          </a:p>
        </p:txBody>
      </p:sp>
      <p:sp>
        <p:nvSpPr>
          <p:cNvPr id="19" name="TextBox 18"/>
          <p:cNvSpPr txBox="1"/>
          <p:nvPr/>
        </p:nvSpPr>
        <p:spPr>
          <a:xfrm>
            <a:off x="5475427" y="3246120"/>
            <a:ext cx="1240840" cy="914400"/>
          </a:xfrm>
          <a:prstGeom prst="rect">
            <a:avLst/>
          </a:prstGeom>
          <a:noFill/>
        </p:spPr>
        <p:txBody>
          <a:bodyPr wrap="square" anchor="t" lIns="45720" rIns="45720">
            <a:spAutoFit/>
          </a:bodyPr>
          <a:lstStyle/>
          <a:p>
            <a:pPr algn="ctr"/>
            <a:r>
              <a:rPr sz="1200" b="0" i="0">
                <a:solidFill>
                  <a:srgbClr val="222222"/>
                </a:solidFill>
                <a:latin typeface="Calibri"/>
              </a:rPr>
              <a:t>Lee &amp; Oh</a:t>
            </a:r>
          </a:p>
          <a:p>
            <a:pPr algn="ctr"/>
            <a:r>
              <a:rPr sz="1200" b="0" i="0">
                <a:solidFill>
                  <a:srgbClr val="222222"/>
                </a:solidFill>
                <a:latin typeface="Calibri"/>
              </a:rPr>
              <a:t>synthetic</a:t>
            </a:r>
          </a:p>
        </p:txBody>
      </p:sp>
      <p:sp>
        <p:nvSpPr>
          <p:cNvPr id="20" name="Rectangle 19"/>
          <p:cNvSpPr/>
          <p:nvPr/>
        </p:nvSpPr>
        <p:spPr>
          <a:xfrm>
            <a:off x="6798563" y="2057400"/>
            <a:ext cx="1094536" cy="685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Calibri"/>
              </a:rPr>
              <a:t>S6</a:t>
            </a:r>
          </a:p>
        </p:txBody>
      </p:sp>
      <p:sp>
        <p:nvSpPr>
          <p:cNvPr id="21" name="TextBox 20"/>
          <p:cNvSpPr txBox="1"/>
          <p:nvPr/>
        </p:nvSpPr>
        <p:spPr>
          <a:xfrm>
            <a:off x="6752843" y="2834640"/>
            <a:ext cx="1185976" cy="457200"/>
          </a:xfrm>
          <a:prstGeom prst="rect">
            <a:avLst/>
          </a:prstGeom>
          <a:noFill/>
        </p:spPr>
        <p:txBody>
          <a:bodyPr wrap="square" anchor="t" lIns="45720" rIns="45720">
            <a:spAutoFit/>
          </a:bodyPr>
          <a:lstStyle/>
          <a:p>
            <a:pPr algn="ctr"/>
            <a:r>
              <a:rPr sz="1500" b="1" i="0">
                <a:solidFill>
                  <a:srgbClr val="1F3A5F"/>
                </a:solidFill>
                <a:latin typeface="Calibri"/>
              </a:rPr>
              <a:t>Simulator</a:t>
            </a:r>
          </a:p>
        </p:txBody>
      </p:sp>
      <p:sp>
        <p:nvSpPr>
          <p:cNvPr id="22" name="TextBox 21"/>
          <p:cNvSpPr txBox="1"/>
          <p:nvPr/>
        </p:nvSpPr>
        <p:spPr>
          <a:xfrm>
            <a:off x="6725411" y="3246120"/>
            <a:ext cx="1240840" cy="914400"/>
          </a:xfrm>
          <a:prstGeom prst="rect">
            <a:avLst/>
          </a:prstGeom>
          <a:noFill/>
        </p:spPr>
        <p:txBody>
          <a:bodyPr wrap="square" anchor="t" lIns="45720" rIns="45720">
            <a:spAutoFit/>
          </a:bodyPr>
          <a:lstStyle/>
          <a:p>
            <a:pPr algn="ctr"/>
            <a:r>
              <a:rPr sz="1200" b="0" i="0">
                <a:solidFill>
                  <a:srgbClr val="222222"/>
                </a:solidFill>
                <a:latin typeface="Calibri"/>
              </a:rPr>
              <a:t>MovieLens-1M</a:t>
            </a:r>
          </a:p>
          <a:p>
            <a:pPr algn="ctr"/>
            <a:r>
              <a:rPr sz="1200" b="0" i="0">
                <a:solidFill>
                  <a:srgbClr val="222222"/>
                </a:solidFill>
                <a:latin typeface="Calibri"/>
              </a:rPr>
              <a:t>user model</a:t>
            </a:r>
          </a:p>
        </p:txBody>
      </p:sp>
      <p:sp>
        <p:nvSpPr>
          <p:cNvPr id="23" name="Rectangle 22"/>
          <p:cNvSpPr/>
          <p:nvPr/>
        </p:nvSpPr>
        <p:spPr>
          <a:xfrm>
            <a:off x="8048548" y="2057400"/>
            <a:ext cx="1094536" cy="685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Calibri"/>
              </a:rPr>
              <a:t>S7</a:t>
            </a:r>
          </a:p>
        </p:txBody>
      </p:sp>
      <p:sp>
        <p:nvSpPr>
          <p:cNvPr id="24" name="TextBox 23"/>
          <p:cNvSpPr txBox="1"/>
          <p:nvPr/>
        </p:nvSpPr>
        <p:spPr>
          <a:xfrm>
            <a:off x="8002828" y="2834640"/>
            <a:ext cx="1185976" cy="457200"/>
          </a:xfrm>
          <a:prstGeom prst="rect">
            <a:avLst/>
          </a:prstGeom>
          <a:noFill/>
        </p:spPr>
        <p:txBody>
          <a:bodyPr wrap="square" anchor="t" lIns="45720" rIns="45720">
            <a:spAutoFit/>
          </a:bodyPr>
          <a:lstStyle/>
          <a:p>
            <a:pPr algn="ctr"/>
            <a:r>
              <a:rPr sz="1500" b="1" i="0">
                <a:solidFill>
                  <a:srgbClr val="1F3A5F"/>
                </a:solidFill>
                <a:latin typeface="Calibri"/>
              </a:rPr>
              <a:t>Sanity</a:t>
            </a:r>
          </a:p>
        </p:txBody>
      </p:sp>
      <p:sp>
        <p:nvSpPr>
          <p:cNvPr id="25" name="TextBox 24"/>
          <p:cNvSpPr txBox="1"/>
          <p:nvPr/>
        </p:nvSpPr>
        <p:spPr>
          <a:xfrm>
            <a:off x="7975396" y="3246120"/>
            <a:ext cx="1240840" cy="914400"/>
          </a:xfrm>
          <a:prstGeom prst="rect">
            <a:avLst/>
          </a:prstGeom>
          <a:noFill/>
        </p:spPr>
        <p:txBody>
          <a:bodyPr wrap="square" anchor="t" lIns="45720" rIns="45720">
            <a:spAutoFit/>
          </a:bodyPr>
          <a:lstStyle/>
          <a:p>
            <a:pPr algn="ctr"/>
            <a:r>
              <a:rPr sz="1200" b="0" i="0">
                <a:solidFill>
                  <a:srgbClr val="222222"/>
                </a:solidFill>
                <a:latin typeface="Calibri"/>
              </a:rPr>
              <a:t>Oracle</a:t>
            </a:r>
          </a:p>
          <a:p>
            <a:pPr algn="ctr"/>
            <a:r>
              <a:rPr sz="1200" b="0" i="0">
                <a:solidFill>
                  <a:srgbClr val="222222"/>
                </a:solidFill>
                <a:latin typeface="Calibri"/>
              </a:rPr>
              <a:t>policies</a:t>
            </a:r>
          </a:p>
        </p:txBody>
      </p:sp>
      <p:sp>
        <p:nvSpPr>
          <p:cNvPr id="26" name="Rectangle 25"/>
          <p:cNvSpPr/>
          <p:nvPr/>
        </p:nvSpPr>
        <p:spPr>
          <a:xfrm>
            <a:off x="9298533" y="2057400"/>
            <a:ext cx="1094536" cy="685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Calibri"/>
              </a:rPr>
              <a:t>S8</a:t>
            </a:r>
          </a:p>
        </p:txBody>
      </p:sp>
      <p:sp>
        <p:nvSpPr>
          <p:cNvPr id="27" name="TextBox 26"/>
          <p:cNvSpPr txBox="1"/>
          <p:nvPr/>
        </p:nvSpPr>
        <p:spPr>
          <a:xfrm>
            <a:off x="9252813" y="2834640"/>
            <a:ext cx="1185976" cy="457200"/>
          </a:xfrm>
          <a:prstGeom prst="rect">
            <a:avLst/>
          </a:prstGeom>
          <a:noFill/>
        </p:spPr>
        <p:txBody>
          <a:bodyPr wrap="square" anchor="t" lIns="45720" rIns="45720">
            <a:spAutoFit/>
          </a:bodyPr>
          <a:lstStyle/>
          <a:p>
            <a:pPr algn="ctr"/>
            <a:r>
              <a:rPr sz="1500" b="1" i="0">
                <a:solidFill>
                  <a:srgbClr val="1F3A5F"/>
                </a:solidFill>
                <a:latin typeface="Calibri"/>
              </a:rPr>
              <a:t>Main exp.</a:t>
            </a:r>
          </a:p>
        </p:txBody>
      </p:sp>
      <p:sp>
        <p:nvSpPr>
          <p:cNvPr id="28" name="TextBox 27"/>
          <p:cNvSpPr txBox="1"/>
          <p:nvPr/>
        </p:nvSpPr>
        <p:spPr>
          <a:xfrm>
            <a:off x="9225381" y="3246120"/>
            <a:ext cx="1240840" cy="914400"/>
          </a:xfrm>
          <a:prstGeom prst="rect">
            <a:avLst/>
          </a:prstGeom>
          <a:noFill/>
        </p:spPr>
        <p:txBody>
          <a:bodyPr wrap="square" anchor="t" lIns="45720" rIns="45720">
            <a:spAutoFit/>
          </a:bodyPr>
          <a:lstStyle/>
          <a:p>
            <a:pPr algn="ctr"/>
            <a:r>
              <a:rPr sz="1200" b="0" i="0">
                <a:solidFill>
                  <a:srgbClr val="222222"/>
                </a:solidFill>
                <a:latin typeface="Calibri"/>
              </a:rPr>
              <a:t>Supervised vs</a:t>
            </a:r>
          </a:p>
          <a:p>
            <a:pPr algn="ctr"/>
            <a:r>
              <a:rPr sz="1200" b="0" i="0">
                <a:solidFill>
                  <a:srgbClr val="222222"/>
                </a:solidFill>
                <a:latin typeface="Calibri"/>
              </a:rPr>
              <a:t>RL, K = 1</a:t>
            </a:r>
          </a:p>
        </p:txBody>
      </p:sp>
      <p:sp>
        <p:nvSpPr>
          <p:cNvPr id="29" name="Rectangle 28"/>
          <p:cNvSpPr/>
          <p:nvPr/>
        </p:nvSpPr>
        <p:spPr>
          <a:xfrm>
            <a:off x="10548518" y="2057400"/>
            <a:ext cx="1094536" cy="6858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Calibri"/>
              </a:rPr>
              <a:t>S9</a:t>
            </a:r>
          </a:p>
        </p:txBody>
      </p:sp>
      <p:sp>
        <p:nvSpPr>
          <p:cNvPr id="30" name="TextBox 29"/>
          <p:cNvSpPr txBox="1"/>
          <p:nvPr/>
        </p:nvSpPr>
        <p:spPr>
          <a:xfrm>
            <a:off x="10502798" y="2834640"/>
            <a:ext cx="1185976" cy="457200"/>
          </a:xfrm>
          <a:prstGeom prst="rect">
            <a:avLst/>
          </a:prstGeom>
          <a:noFill/>
        </p:spPr>
        <p:txBody>
          <a:bodyPr wrap="square" anchor="t" lIns="45720" rIns="45720">
            <a:spAutoFit/>
          </a:bodyPr>
          <a:lstStyle/>
          <a:p>
            <a:pPr algn="ctr"/>
            <a:r>
              <a:rPr sz="1500" b="1" i="0">
                <a:solidFill>
                  <a:srgbClr val="1F3A5F"/>
                </a:solidFill>
                <a:latin typeface="Calibri"/>
              </a:rPr>
              <a:t>Demo</a:t>
            </a:r>
          </a:p>
        </p:txBody>
      </p:sp>
      <p:sp>
        <p:nvSpPr>
          <p:cNvPr id="31" name="TextBox 30"/>
          <p:cNvSpPr txBox="1"/>
          <p:nvPr/>
        </p:nvSpPr>
        <p:spPr>
          <a:xfrm>
            <a:off x="10475366" y="3246120"/>
            <a:ext cx="1240840" cy="914400"/>
          </a:xfrm>
          <a:prstGeom prst="rect">
            <a:avLst/>
          </a:prstGeom>
          <a:noFill/>
        </p:spPr>
        <p:txBody>
          <a:bodyPr wrap="square" anchor="t" lIns="45720" rIns="45720">
            <a:spAutoFit/>
          </a:bodyPr>
          <a:lstStyle/>
          <a:p>
            <a:pPr algn="ctr"/>
            <a:r>
              <a:rPr sz="1200" b="0" i="0">
                <a:solidFill>
                  <a:srgbClr val="222222"/>
                </a:solidFill>
                <a:latin typeface="Calibri"/>
              </a:rPr>
              <a:t>Streamlit</a:t>
            </a:r>
          </a:p>
          <a:p>
            <a:pPr algn="ctr"/>
            <a:r>
              <a:rPr sz="1200" b="0" i="0">
                <a:solidFill>
                  <a:srgbClr val="222222"/>
                </a:solidFill>
                <a:latin typeface="Calibri"/>
              </a:rPr>
              <a:t>live session</a:t>
            </a:r>
          </a:p>
        </p:txBody>
      </p:sp>
      <p:sp>
        <p:nvSpPr>
          <p:cNvPr id="32" name="Rectangle 31"/>
          <p:cNvSpPr/>
          <p:nvPr/>
        </p:nvSpPr>
        <p:spPr>
          <a:xfrm>
            <a:off x="548640" y="1783080"/>
            <a:ext cx="11094415" cy="36576"/>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1371600"/>
            <a:ext cx="3657600" cy="365760"/>
          </a:xfrm>
          <a:prstGeom prst="rect">
            <a:avLst/>
          </a:prstGeom>
          <a:noFill/>
        </p:spPr>
        <p:txBody>
          <a:bodyPr wrap="square" anchor="t" lIns="45720" rIns="45720">
            <a:spAutoFit/>
          </a:bodyPr>
          <a:lstStyle/>
          <a:p>
            <a:pPr algn="l"/>
            <a:r>
              <a:rPr sz="1400" b="0" i="1">
                <a:solidFill>
                  <a:srgbClr val="666666"/>
                </a:solidFill>
                <a:latin typeface="Calibri"/>
              </a:rPr>
              <a:t>foundations</a:t>
            </a:r>
          </a:p>
        </p:txBody>
      </p:sp>
      <p:sp>
        <p:nvSpPr>
          <p:cNvPr id="34" name="TextBox 33"/>
          <p:cNvSpPr txBox="1"/>
          <p:nvPr/>
        </p:nvSpPr>
        <p:spPr>
          <a:xfrm>
            <a:off x="4298594" y="1371600"/>
            <a:ext cx="3657600" cy="365760"/>
          </a:xfrm>
          <a:prstGeom prst="rect">
            <a:avLst/>
          </a:prstGeom>
          <a:noFill/>
        </p:spPr>
        <p:txBody>
          <a:bodyPr wrap="square" anchor="t" lIns="45720" rIns="45720">
            <a:spAutoFit/>
          </a:bodyPr>
          <a:lstStyle/>
          <a:p>
            <a:pPr algn="l"/>
            <a:r>
              <a:rPr sz="1400" b="0" i="1">
                <a:solidFill>
                  <a:srgbClr val="666666"/>
                </a:solidFill>
                <a:latin typeface="Calibri"/>
              </a:rPr>
              <a:t>reproductions</a:t>
            </a:r>
          </a:p>
        </p:txBody>
      </p:sp>
      <p:sp>
        <p:nvSpPr>
          <p:cNvPr id="35" name="TextBox 34"/>
          <p:cNvSpPr txBox="1"/>
          <p:nvPr/>
        </p:nvSpPr>
        <p:spPr>
          <a:xfrm>
            <a:off x="6798563" y="1371600"/>
            <a:ext cx="4572000" cy="365760"/>
          </a:xfrm>
          <a:prstGeom prst="rect">
            <a:avLst/>
          </a:prstGeom>
          <a:noFill/>
        </p:spPr>
        <p:txBody>
          <a:bodyPr wrap="square" anchor="t" lIns="45720" rIns="45720">
            <a:spAutoFit/>
          </a:bodyPr>
          <a:lstStyle/>
          <a:p>
            <a:pPr algn="l"/>
            <a:r>
              <a:rPr sz="1400" b="0" i="1">
                <a:solidFill>
                  <a:srgbClr val="666666"/>
                </a:solidFill>
                <a:latin typeface="Calibri"/>
              </a:rPr>
              <a:t>controlled experiment + demo</a:t>
            </a:r>
          </a:p>
        </p:txBody>
      </p:sp>
      <p:sp>
        <p:nvSpPr>
          <p:cNvPr id="36" name="TextBox 35"/>
          <p:cNvSpPr txBox="1"/>
          <p:nvPr/>
        </p:nvSpPr>
        <p:spPr>
          <a:xfrm>
            <a:off x="548640" y="4480560"/>
            <a:ext cx="11094415" cy="1463040"/>
          </a:xfrm>
          <a:prstGeom prst="rect">
            <a:avLst/>
          </a:prstGeom>
          <a:noFill/>
        </p:spPr>
        <p:txBody>
          <a:bodyPr wrap="square">
            <a:spAutoFit/>
          </a:bodyPr>
          <a:lstStyle/>
          <a:p>
            <a:pPr>
              <a:spcAft>
                <a:spcPts val="1000"/>
              </a:spcAft>
            </a:pPr>
            <a:r>
              <a:rPr sz="1200" b="0" i="0">
                <a:solidFill>
                  <a:srgbClr val="1F3A5F"/>
                </a:solidFill>
                <a:latin typeface="Calibri"/>
              </a:rPr>
              <a:t>■  </a:t>
            </a:r>
            <a:r>
              <a:rPr sz="1800" b="0" i="0">
                <a:solidFill>
                  <a:srgbClr val="222222"/>
                </a:solidFill>
                <a:latin typeface="Calibri"/>
              </a:rPr>
              <a:t>Status: S2, S3, S5-S9 done; S4 partial (full grid running on a Colab GPU)</a:t>
            </a:r>
          </a:p>
          <a:p>
            <a:pPr>
              <a:spcAft>
                <a:spcPts val="1000"/>
              </a:spcAft>
            </a:pPr>
            <a:r>
              <a:rPr sz="1200" b="0" i="0">
                <a:solidFill>
                  <a:srgbClr val="1F3A5F"/>
                </a:solidFill>
                <a:latin typeface="Calibri"/>
              </a:rPr>
              <a:t>■  </a:t>
            </a:r>
            <a:r>
              <a:rPr sz="1800" b="0" i="0">
                <a:solidFill>
                  <a:srgbClr val="222222"/>
                </a:solidFill>
                <a:latin typeface="Calibri"/>
              </a:rPr>
              <a:t>Every number in the talk comes from a script in scripts/ (README lists the commands)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Reproduction 1: Labarca et al. (ICML 2024) on RetailRocket</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6</a:t>
            </a:r>
          </a:p>
        </p:txBody>
      </p:sp>
      <p:sp>
        <p:nvSpPr>
          <p:cNvPr id="5" name="TextBox 4"/>
          <p:cNvSpPr txBox="1"/>
          <p:nvPr/>
        </p:nvSpPr>
        <p:spPr>
          <a:xfrm>
            <a:off x="548640" y="1280160"/>
            <a:ext cx="11094415" cy="685800"/>
          </a:xfrm>
          <a:prstGeom prst="rect">
            <a:avLst/>
          </a:prstGeom>
          <a:noFill/>
        </p:spPr>
        <p:txBody>
          <a:bodyPr wrap="square" anchor="t" lIns="45720" rIns="45720">
            <a:spAutoFit/>
          </a:bodyPr>
          <a:lstStyle/>
          <a:p>
            <a:pPr algn="l"/>
            <a:r>
              <a:rPr sz="1700" b="1" i="0">
                <a:solidFill>
                  <a:srgbClr val="1F3A5F"/>
                </a:solidFill>
                <a:latin typeface="Calibri"/>
              </a:rPr>
              <a:t>Claim:</a:t>
            </a:r>
            <a:r>
              <a:rPr sz="1700" b="0" i="0">
                <a:solidFill>
                  <a:srgbClr val="222222"/>
                </a:solidFill>
                <a:latin typeface="Calibri"/>
              </a:rPr>
              <a:t> an SQN (RL) head improves next-item prediction, but non-RL heads (EVAL, HIST) do as well, so the gain is representation learning, not RL.</a:t>
            </a:r>
          </a:p>
        </p:txBody>
      </p:sp>
      <p:graphicFrame>
        <p:nvGraphicFramePr>
          <p:cNvPr id="6" name="Table 5"/>
          <p:cNvGraphicFramePr>
            <a:graphicFrameLocks noGrp="1"/>
          </p:cNvGraphicFramePr>
          <p:nvPr/>
        </p:nvGraphicFramePr>
        <p:xfrm>
          <a:off x="548640" y="2148840"/>
          <a:ext cx="6766558" cy="1920240"/>
        </p:xfrm>
        <a:graphic>
          <a:graphicData uri="http://schemas.openxmlformats.org/drawingml/2006/table">
            <a:tbl>
              <a:tblPr firstRow="1" bandRow="1">
                <a:tableStyleId>{5C22544A-7EE6-4342-B048-85BDC9FD1C3A}</a:tableStyleId>
              </a:tblPr>
              <a:tblGrid>
                <a:gridCol w="2069771"/>
                <a:gridCol w="1512525"/>
                <a:gridCol w="1034885"/>
                <a:gridCol w="1034885"/>
                <a:gridCol w="1114492"/>
              </a:tblGrid>
              <a:tr h="384048">
                <a:tc>
                  <a:txBody>
                    <a:bodyPr wrap="square"/>
                    <a:lstStyle/>
                    <a:p>
                      <a:pPr algn="l"/>
                      <a:r>
                        <a:rPr sz="1400" b="1" i="0">
                          <a:solidFill>
                            <a:srgbClr val="FFFFFF"/>
                          </a:solidFill>
                          <a:latin typeface="Calibri"/>
                        </a:rPr>
                        <a:t>Model</a:t>
                      </a:r>
                    </a:p>
                  </a:txBody>
                  <a:tcPr marL="54864" marR="54864" marT="18288" marB="18288" anchor="ctr">
                    <a:solidFill>
                      <a:srgbClr val="1F3A5F"/>
                    </a:solidFill>
                  </a:tcPr>
                </a:tc>
                <a:tc>
                  <a:txBody>
                    <a:bodyPr wrap="square"/>
                    <a:lstStyle/>
                    <a:p>
                      <a:pPr algn="ctr"/>
                      <a:r>
                        <a:rPr sz="1400" b="1" i="0">
                          <a:solidFill>
                            <a:srgbClr val="FFFFFF"/>
                          </a:solidFill>
                          <a:latin typeface="Calibri"/>
                        </a:rPr>
                        <a:t>best epoch (of run)</a:t>
                      </a:r>
                    </a:p>
                  </a:txBody>
                  <a:tcPr marL="54864" marR="54864" marT="18288" marB="18288" anchor="ctr">
                    <a:solidFill>
                      <a:srgbClr val="1F3A5F"/>
                    </a:solidFill>
                  </a:tcPr>
                </a:tc>
                <a:tc>
                  <a:txBody>
                    <a:bodyPr wrap="square"/>
                    <a:lstStyle/>
                    <a:p>
                      <a:pPr algn="ctr"/>
                      <a:r>
                        <a:rPr sz="1400" b="1" i="0">
                          <a:solidFill>
                            <a:srgbClr val="FFFFFF"/>
                          </a:solidFill>
                          <a:latin typeface="Calibri"/>
                        </a:rPr>
                        <a:t>buy HR@5</a:t>
                      </a:r>
                    </a:p>
                  </a:txBody>
                  <a:tcPr marL="54864" marR="54864" marT="18288" marB="18288" anchor="ctr">
                    <a:solidFill>
                      <a:srgbClr val="1F3A5F"/>
                    </a:solidFill>
                  </a:tcPr>
                </a:tc>
                <a:tc>
                  <a:txBody>
                    <a:bodyPr wrap="square"/>
                    <a:lstStyle/>
                    <a:p>
                      <a:pPr algn="ctr"/>
                      <a:r>
                        <a:rPr sz="1400" b="1" i="0">
                          <a:solidFill>
                            <a:srgbClr val="FFFFFF"/>
                          </a:solidFill>
                          <a:latin typeface="Calibri"/>
                        </a:rPr>
                        <a:t>buy HR@20</a:t>
                      </a:r>
                    </a:p>
                  </a:txBody>
                  <a:tcPr marL="54864" marR="54864" marT="18288" marB="18288" anchor="ctr">
                    <a:solidFill>
                      <a:srgbClr val="1F3A5F"/>
                    </a:solidFill>
                  </a:tcPr>
                </a:tc>
                <a:tc>
                  <a:txBody>
                    <a:bodyPr wrap="square"/>
                    <a:lstStyle/>
                    <a:p>
                      <a:pPr algn="ctr"/>
                      <a:r>
                        <a:rPr sz="1400" b="1" i="0">
                          <a:solidFill>
                            <a:srgbClr val="FFFFFF"/>
                          </a:solidFill>
                          <a:latin typeface="Calibri"/>
                        </a:rPr>
                        <a:t>click HR@20</a:t>
                      </a:r>
                    </a:p>
                  </a:txBody>
                  <a:tcPr marL="54864" marR="54864" marT="18288" marB="18288" anchor="ctr">
                    <a:solidFill>
                      <a:srgbClr val="1F3A5F"/>
                    </a:solidFill>
                  </a:tcPr>
                </a:tc>
              </a:tr>
              <a:tr h="384048">
                <a:tc>
                  <a:txBody>
                    <a:bodyPr wrap="square"/>
                    <a:lstStyle/>
                    <a:p>
                      <a:pPr algn="l"/>
                      <a:r>
                        <a:rPr sz="1400" b="0" i="0">
                          <a:solidFill>
                            <a:srgbClr val="222222"/>
                          </a:solidFill>
                          <a:latin typeface="Calibri"/>
                        </a:rPr>
                        <a:t>GRU4Rec (CE)</a:t>
                      </a:r>
                    </a:p>
                  </a:txBody>
                  <a:tcPr marL="54864" marR="54864" marT="18288" marB="18288" anchor="ctr">
                    <a:solidFill>
                      <a:srgbClr val="FFFFFF"/>
                    </a:solidFill>
                  </a:tcPr>
                </a:tc>
                <a:tc>
                  <a:txBody>
                    <a:bodyPr wrap="square"/>
                    <a:lstStyle/>
                    <a:p>
                      <a:pPr algn="ctr"/>
                      <a:r>
                        <a:rPr sz="1400" b="0" i="0">
                          <a:solidFill>
                            <a:srgbClr val="222222"/>
                          </a:solidFill>
                          <a:latin typeface="Calibri"/>
                        </a:rPr>
                        <a:t>2 of 3</a:t>
                      </a:r>
                    </a:p>
                  </a:txBody>
                  <a:tcPr marL="54864" marR="54864" marT="18288" marB="18288" anchor="ctr">
                    <a:solidFill>
                      <a:srgbClr val="FFFFFF"/>
                    </a:solidFill>
                  </a:tcPr>
                </a:tc>
                <a:tc>
                  <a:txBody>
                    <a:bodyPr wrap="square"/>
                    <a:lstStyle/>
                    <a:p>
                      <a:pPr algn="ctr"/>
                      <a:r>
                        <a:rPr sz="1400" b="0" i="0">
                          <a:solidFill>
                            <a:srgbClr val="222222"/>
                          </a:solidFill>
                          <a:latin typeface="Calibri"/>
                        </a:rPr>
                        <a:t>0.380</a:t>
                      </a:r>
                    </a:p>
                  </a:txBody>
                  <a:tcPr marL="54864" marR="54864" marT="18288" marB="18288" anchor="ctr">
                    <a:solidFill>
                      <a:srgbClr val="FFFFFF"/>
                    </a:solidFill>
                  </a:tcPr>
                </a:tc>
                <a:tc>
                  <a:txBody>
                    <a:bodyPr wrap="square"/>
                    <a:lstStyle/>
                    <a:p>
                      <a:pPr algn="ctr"/>
                      <a:r>
                        <a:rPr sz="1400" b="0" i="0">
                          <a:solidFill>
                            <a:srgbClr val="222222"/>
                          </a:solidFill>
                          <a:latin typeface="Calibri"/>
                        </a:rPr>
                        <a:t>0.458</a:t>
                      </a:r>
                    </a:p>
                  </a:txBody>
                  <a:tcPr marL="54864" marR="54864" marT="18288" marB="18288" anchor="ctr">
                    <a:solidFill>
                      <a:srgbClr val="FFFFFF"/>
                    </a:solidFill>
                  </a:tcPr>
                </a:tc>
                <a:tc>
                  <a:txBody>
                    <a:bodyPr wrap="square"/>
                    <a:lstStyle/>
                    <a:p>
                      <a:pPr algn="ctr"/>
                      <a:r>
                        <a:rPr sz="1400" b="0" i="0">
                          <a:solidFill>
                            <a:srgbClr val="222222"/>
                          </a:solidFill>
                          <a:latin typeface="Calibri"/>
                        </a:rPr>
                        <a:t>0.292</a:t>
                      </a:r>
                    </a:p>
                  </a:txBody>
                  <a:tcPr marL="54864" marR="54864" marT="18288" marB="18288" anchor="ctr">
                    <a:solidFill>
                      <a:srgbClr val="FFFFFF"/>
                    </a:solidFill>
                  </a:tcPr>
                </a:tc>
              </a:tr>
              <a:tr h="384048">
                <a:tc>
                  <a:txBody>
                    <a:bodyPr wrap="square"/>
                    <a:lstStyle/>
                    <a:p>
                      <a:pPr algn="l"/>
                      <a:r>
                        <a:rPr sz="1400" b="0" i="0">
                          <a:solidFill>
                            <a:srgbClr val="222222"/>
                          </a:solidFill>
                          <a:latin typeface="Calibri"/>
                        </a:rPr>
                        <a:t>GRU4Rec-SQN</a:t>
                      </a:r>
                    </a:p>
                  </a:txBody>
                  <a:tcPr marL="54864" marR="54864" marT="18288" marB="18288" anchor="ctr">
                    <a:solidFill>
                      <a:srgbClr val="EEF2F7"/>
                    </a:solidFill>
                  </a:tcPr>
                </a:tc>
                <a:tc>
                  <a:txBody>
                    <a:bodyPr wrap="square"/>
                    <a:lstStyle/>
                    <a:p>
                      <a:pPr algn="ctr"/>
                      <a:r>
                        <a:rPr sz="1400" b="0" i="0">
                          <a:solidFill>
                            <a:srgbClr val="222222"/>
                          </a:solidFill>
                          <a:latin typeface="Calibri"/>
                        </a:rPr>
                        <a:t>2 of 2</a:t>
                      </a:r>
                    </a:p>
                  </a:txBody>
                  <a:tcPr marL="54864" marR="54864" marT="18288" marB="18288" anchor="ctr">
                    <a:solidFill>
                      <a:srgbClr val="EEF2F7"/>
                    </a:solidFill>
                  </a:tcPr>
                </a:tc>
                <a:tc>
                  <a:txBody>
                    <a:bodyPr wrap="square"/>
                    <a:lstStyle/>
                    <a:p>
                      <a:pPr algn="ctr"/>
                      <a:r>
                        <a:rPr sz="1400" b="0" i="0">
                          <a:solidFill>
                            <a:srgbClr val="222222"/>
                          </a:solidFill>
                          <a:latin typeface="Calibri"/>
                        </a:rPr>
                        <a:t>0.327</a:t>
                      </a:r>
                    </a:p>
                  </a:txBody>
                  <a:tcPr marL="54864" marR="54864" marT="18288" marB="18288" anchor="ctr">
                    <a:solidFill>
                      <a:srgbClr val="EEF2F7"/>
                    </a:solidFill>
                  </a:tcPr>
                </a:tc>
                <a:tc>
                  <a:txBody>
                    <a:bodyPr wrap="square"/>
                    <a:lstStyle/>
                    <a:p>
                      <a:pPr algn="ctr"/>
                      <a:r>
                        <a:rPr sz="1400" b="0" i="0">
                          <a:solidFill>
                            <a:srgbClr val="222222"/>
                          </a:solidFill>
                          <a:latin typeface="Calibri"/>
                        </a:rPr>
                        <a:t>0.386</a:t>
                      </a:r>
                    </a:p>
                  </a:txBody>
                  <a:tcPr marL="54864" marR="54864" marT="18288" marB="18288" anchor="ctr">
                    <a:solidFill>
                      <a:srgbClr val="EEF2F7"/>
                    </a:solidFill>
                  </a:tcPr>
                </a:tc>
                <a:tc>
                  <a:txBody>
                    <a:bodyPr wrap="square"/>
                    <a:lstStyle/>
                    <a:p>
                      <a:pPr algn="ctr"/>
                      <a:r>
                        <a:rPr sz="1400" b="0" i="0">
                          <a:solidFill>
                            <a:srgbClr val="222222"/>
                          </a:solidFill>
                          <a:latin typeface="Calibri"/>
                        </a:rPr>
                        <a:t>0.249</a:t>
                      </a:r>
                    </a:p>
                  </a:txBody>
                  <a:tcPr marL="54864" marR="54864" marT="18288" marB="18288" anchor="ctr">
                    <a:solidFill>
                      <a:srgbClr val="EEF2F7"/>
                    </a:solidFill>
                  </a:tcPr>
                </a:tc>
              </a:tr>
              <a:tr h="384048">
                <a:tc>
                  <a:txBody>
                    <a:bodyPr wrap="square"/>
                    <a:lstStyle/>
                    <a:p>
                      <a:pPr algn="l"/>
                      <a:r>
                        <a:rPr sz="1400" b="0" i="0">
                          <a:solidFill>
                            <a:srgbClr val="222222"/>
                          </a:solidFill>
                          <a:latin typeface="Calibri"/>
                        </a:rPr>
                        <a:t>SASRec (CE)</a:t>
                      </a:r>
                    </a:p>
                  </a:txBody>
                  <a:tcPr marL="54864" marR="54864" marT="18288" marB="18288" anchor="ctr">
                    <a:solidFill>
                      <a:srgbClr val="FFFFFF"/>
                    </a:solidFill>
                  </a:tcPr>
                </a:tc>
                <a:tc>
                  <a:txBody>
                    <a:bodyPr wrap="square"/>
                    <a:lstStyle/>
                    <a:p>
                      <a:pPr algn="ctr"/>
                      <a:r>
                        <a:rPr sz="1400" b="0" i="0">
                          <a:solidFill>
                            <a:srgbClr val="222222"/>
                          </a:solidFill>
                          <a:latin typeface="Calibri"/>
                        </a:rPr>
                        <a:t>3 of 3</a:t>
                      </a:r>
                    </a:p>
                  </a:txBody>
                  <a:tcPr marL="54864" marR="54864" marT="18288" marB="18288" anchor="ctr">
                    <a:solidFill>
                      <a:srgbClr val="FFFFFF"/>
                    </a:solidFill>
                  </a:tcPr>
                </a:tc>
                <a:tc>
                  <a:txBody>
                    <a:bodyPr wrap="square"/>
                    <a:lstStyle/>
                    <a:p>
                      <a:pPr algn="ctr"/>
                      <a:r>
                        <a:rPr sz="1400" b="0" i="0">
                          <a:solidFill>
                            <a:srgbClr val="222222"/>
                          </a:solidFill>
                          <a:latin typeface="Calibri"/>
                        </a:rPr>
                        <a:t>0.469</a:t>
                      </a:r>
                    </a:p>
                  </a:txBody>
                  <a:tcPr marL="54864" marR="54864" marT="18288" marB="18288" anchor="ctr">
                    <a:solidFill>
                      <a:srgbClr val="FFFFFF"/>
                    </a:solidFill>
                  </a:tcPr>
                </a:tc>
                <a:tc>
                  <a:txBody>
                    <a:bodyPr wrap="square"/>
                    <a:lstStyle/>
                    <a:p>
                      <a:pPr algn="ctr"/>
                      <a:r>
                        <a:rPr sz="1400" b="0" i="0">
                          <a:solidFill>
                            <a:srgbClr val="222222"/>
                          </a:solidFill>
                          <a:latin typeface="Calibri"/>
                        </a:rPr>
                        <a:t>0.551</a:t>
                      </a:r>
                    </a:p>
                  </a:txBody>
                  <a:tcPr marL="54864" marR="54864" marT="18288" marB="18288" anchor="ctr">
                    <a:solidFill>
                      <a:srgbClr val="FFFFFF"/>
                    </a:solidFill>
                  </a:tcPr>
                </a:tc>
                <a:tc>
                  <a:txBody>
                    <a:bodyPr wrap="square"/>
                    <a:lstStyle/>
                    <a:p>
                      <a:pPr algn="ctr"/>
                      <a:r>
                        <a:rPr sz="1400" b="0" i="0">
                          <a:solidFill>
                            <a:srgbClr val="222222"/>
                          </a:solidFill>
                          <a:latin typeface="Calibri"/>
                        </a:rPr>
                        <a:t>0.346</a:t>
                      </a:r>
                    </a:p>
                  </a:txBody>
                  <a:tcPr marL="54864" marR="54864" marT="18288" marB="18288" anchor="ctr">
                    <a:solidFill>
                      <a:srgbClr val="FFFFFF"/>
                    </a:solidFill>
                  </a:tcPr>
                </a:tc>
              </a:tr>
              <a:tr h="384048">
                <a:tc>
                  <a:txBody>
                    <a:bodyPr wrap="square"/>
                    <a:lstStyle/>
                    <a:p>
                      <a:pPr algn="l"/>
                      <a:r>
                        <a:rPr sz="1400" b="0" i="0">
                          <a:solidFill>
                            <a:srgbClr val="222222"/>
                          </a:solidFill>
                          <a:latin typeface="Calibri"/>
                        </a:rPr>
                        <a:t>SASRec-SQN</a:t>
                      </a:r>
                    </a:p>
                  </a:txBody>
                  <a:tcPr marL="54864" marR="54864" marT="18288" marB="18288" anchor="ctr">
                    <a:solidFill>
                      <a:srgbClr val="EEF2F7"/>
                    </a:solidFill>
                  </a:tcPr>
                </a:tc>
                <a:tc>
                  <a:txBody>
                    <a:bodyPr wrap="square"/>
                    <a:lstStyle/>
                    <a:p>
                      <a:pPr algn="ctr"/>
                      <a:r>
                        <a:rPr sz="1400" b="0" i="0">
                          <a:solidFill>
                            <a:srgbClr val="222222"/>
                          </a:solidFill>
                          <a:latin typeface="Calibri"/>
                        </a:rPr>
                        <a:t>2 of 2</a:t>
                      </a:r>
                    </a:p>
                  </a:txBody>
                  <a:tcPr marL="54864" marR="54864" marT="18288" marB="18288" anchor="ctr">
                    <a:solidFill>
                      <a:srgbClr val="EEF2F7"/>
                    </a:solidFill>
                  </a:tcPr>
                </a:tc>
                <a:tc>
                  <a:txBody>
                    <a:bodyPr wrap="square"/>
                    <a:lstStyle/>
                    <a:p>
                      <a:pPr algn="ctr"/>
                      <a:r>
                        <a:rPr sz="1400" b="0" i="0">
                          <a:solidFill>
                            <a:srgbClr val="222222"/>
                          </a:solidFill>
                          <a:latin typeface="Calibri"/>
                        </a:rPr>
                        <a:t>0.411</a:t>
                      </a:r>
                    </a:p>
                  </a:txBody>
                  <a:tcPr marL="54864" marR="54864" marT="18288" marB="18288" anchor="ctr">
                    <a:solidFill>
                      <a:srgbClr val="EEF2F7"/>
                    </a:solidFill>
                  </a:tcPr>
                </a:tc>
                <a:tc>
                  <a:txBody>
                    <a:bodyPr wrap="square"/>
                    <a:lstStyle/>
                    <a:p>
                      <a:pPr algn="ctr"/>
                      <a:r>
                        <a:rPr sz="1400" b="0" i="0">
                          <a:solidFill>
                            <a:srgbClr val="222222"/>
                          </a:solidFill>
                          <a:latin typeface="Calibri"/>
                        </a:rPr>
                        <a:t>0.461</a:t>
                      </a:r>
                    </a:p>
                  </a:txBody>
                  <a:tcPr marL="54864" marR="54864" marT="18288" marB="18288" anchor="ctr">
                    <a:solidFill>
                      <a:srgbClr val="EEF2F7"/>
                    </a:solidFill>
                  </a:tcPr>
                </a:tc>
                <a:tc>
                  <a:txBody>
                    <a:bodyPr wrap="square"/>
                    <a:lstStyle/>
                    <a:p>
                      <a:pPr algn="ctr"/>
                      <a:r>
                        <a:rPr sz="1400" b="0" i="0">
                          <a:solidFill>
                            <a:srgbClr val="222222"/>
                          </a:solidFill>
                          <a:latin typeface="Calibri"/>
                        </a:rPr>
                        <a:t>0.267</a:t>
                      </a:r>
                    </a:p>
                  </a:txBody>
                  <a:tcPr marL="54864" marR="54864" marT="18288" marB="18288" anchor="ctr">
                    <a:solidFill>
                      <a:srgbClr val="EEF2F7"/>
                    </a:solidFill>
                  </a:tcPr>
                </a:tc>
              </a:tr>
            </a:tbl>
          </a:graphicData>
        </a:graphic>
      </p:graphicFrame>
      <p:sp>
        <p:nvSpPr>
          <p:cNvPr id="7" name="TextBox 6"/>
          <p:cNvSpPr txBox="1"/>
          <p:nvPr/>
        </p:nvSpPr>
        <p:spPr>
          <a:xfrm>
            <a:off x="548640" y="4206240"/>
            <a:ext cx="6766560" cy="365760"/>
          </a:xfrm>
          <a:prstGeom prst="rect">
            <a:avLst/>
          </a:prstGeom>
          <a:noFill/>
        </p:spPr>
        <p:txBody>
          <a:bodyPr wrap="square" anchor="t" lIns="45720" rIns="45720">
            <a:spAutoFit/>
          </a:bodyPr>
          <a:lstStyle/>
          <a:p>
            <a:pPr algn="l"/>
            <a:r>
              <a:rPr sz="1200" b="0" i="1">
                <a:solidFill>
                  <a:srgbClr val="666666"/>
                </a:solidFill>
                <a:latin typeface="Calibri"/>
              </a:rPr>
              <a:t>Partial CPU run: 1 seed, 2-3 epochs (full table in report)</a:t>
            </a:r>
          </a:p>
        </p:txBody>
      </p:sp>
      <p:sp>
        <p:nvSpPr>
          <p:cNvPr id="8" name="Rounded Rectangle 7"/>
          <p:cNvSpPr/>
          <p:nvPr/>
        </p:nvSpPr>
        <p:spPr>
          <a:xfrm>
            <a:off x="7680960" y="2148840"/>
            <a:ext cx="3931920" cy="237744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600" b="1" i="0">
                <a:solidFill>
                  <a:srgbClr val="1F3A5F"/>
                </a:solidFill>
                <a:latin typeface="Calibri"/>
              </a:rPr>
              <a:t>Repeat-item finding</a:t>
            </a:r>
          </a:p>
          <a:p>
            <a:pPr>
              <a:spcBef>
                <a:spcPts val="500"/>
              </a:spcBef>
            </a:pPr>
            <a:r>
              <a:rPr sz="1500" b="1" i="0">
                <a:solidFill>
                  <a:srgbClr val="1F3A5F"/>
                </a:solidFill>
                <a:latin typeface="Calibri"/>
              </a:rPr>
              <a:t>67%</a:t>
            </a:r>
            <a:r>
              <a:rPr sz="1500" b="0" i="0">
                <a:solidFill>
                  <a:srgbClr val="222222"/>
                </a:solidFill>
                <a:latin typeface="Calibri"/>
              </a:rPr>
              <a:t> of purchase targets = the item viewed just before (73% in 10-item history)</a:t>
            </a:r>
          </a:p>
          <a:p>
            <a:pPr>
              <a:spcBef>
                <a:spcPts val="500"/>
              </a:spcBef>
            </a:pPr>
            <a:r>
              <a:rPr sz="1500" b="0" i="0">
                <a:solidFill>
                  <a:srgbClr val="222222"/>
                </a:solidFill>
                <a:latin typeface="Calibri"/>
              </a:rPr>
              <a:t>Explains purchase HR@20 ≈ 2× the paper's (0.46 vs 0.23)</a:t>
            </a:r>
          </a:p>
        </p:txBody>
      </p:sp>
      <p:sp>
        <p:nvSpPr>
          <p:cNvPr id="9" name="TextBox 8"/>
          <p:cNvSpPr txBox="1"/>
          <p:nvPr/>
        </p:nvSpPr>
        <p:spPr>
          <a:xfrm>
            <a:off x="548640" y="4663440"/>
            <a:ext cx="11094415" cy="1371600"/>
          </a:xfrm>
          <a:prstGeom prst="rect">
            <a:avLst/>
          </a:prstGeom>
          <a:noFill/>
        </p:spPr>
        <p:txBody>
          <a:bodyPr wrap="square">
            <a:spAutoFit/>
          </a:bodyPr>
          <a:lstStyle/>
          <a:p>
            <a:pPr>
              <a:spcAft>
                <a:spcPts val="600"/>
              </a:spcAft>
            </a:pPr>
            <a:r>
              <a:rPr sz="1000" b="0" i="0">
                <a:solidFill>
                  <a:srgbClr val="1F3A5F"/>
                </a:solidFill>
                <a:latin typeface="Calibri"/>
              </a:rPr>
              <a:t>■  </a:t>
            </a:r>
            <a:r>
              <a:rPr sz="1600" b="0" i="0">
                <a:solidFill>
                  <a:srgbClr val="222222"/>
                </a:solidFill>
                <a:latin typeface="Calibri"/>
              </a:rPr>
              <a:t>Setup as SQN: views = clicks, add-to-cart = purchases; data matches paper (195,524 sessions, 70,852 items)</a:t>
            </a:r>
          </a:p>
          <a:p>
            <a:pPr>
              <a:spcAft>
                <a:spcPts val="600"/>
              </a:spcAft>
            </a:pPr>
            <a:r>
              <a:rPr sz="1000" b="0" i="0">
                <a:solidFill>
                  <a:srgbClr val="1F3A5F"/>
                </a:solidFill>
                <a:latin typeface="Calibri"/>
              </a:rPr>
              <a:t>■  </a:t>
            </a:r>
            <a:r>
              <a:rPr sz="1600" b="0" i="0">
                <a:solidFill>
                  <a:srgbClr val="222222"/>
                </a:solidFill>
                <a:latin typeface="Calibri"/>
              </a:rPr>
              <a:t>Compare </a:t>
            </a:r>
            <a:r>
              <a:rPr sz="1600" b="1" i="0">
                <a:solidFill>
                  <a:srgbClr val="1F3A5F"/>
                </a:solidFill>
                <a:latin typeface="Calibri"/>
              </a:rPr>
              <a:t>relative</a:t>
            </a:r>
            <a:r>
              <a:rPr sz="1600" b="0" i="0">
                <a:solidFill>
                  <a:srgbClr val="222222"/>
                </a:solidFill>
                <a:latin typeface="Calibri"/>
              </a:rPr>
              <a:t> gains between heads; SQN &lt; CE after 2-3 epochs is too early to judge</a:t>
            </a:r>
          </a:p>
          <a:p>
            <a:pPr>
              <a:spcAft>
                <a:spcPts val="600"/>
              </a:spcAft>
            </a:pPr>
            <a:r>
              <a:rPr sz="1000" b="0" i="0">
                <a:solidFill>
                  <a:srgbClr val="1F3A5F"/>
                </a:solidFill>
                <a:latin typeface="Calibri"/>
              </a:rPr>
              <a:t>■  </a:t>
            </a:r>
            <a:r>
              <a:rPr sz="1600" b="1" i="0">
                <a:solidFill>
                  <a:srgbClr val="1F3A5F"/>
                </a:solidFill>
                <a:latin typeface="Calibri"/>
              </a:rPr>
              <a:t>Status:</a:t>
            </a:r>
            <a:r>
              <a:rPr sz="1600" b="0" i="0">
                <a:solidFill>
                  <a:srgbClr val="222222"/>
                </a:solidFill>
                <a:latin typeface="Calibri"/>
              </a:rPr>
              <a:t> full grid (8 models × 5 seeds) running on Colab GPU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Reproduction 2: Lee &amp; Oh (ICML 2025) synthetic MDP</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7</a:t>
            </a:r>
          </a:p>
        </p:txBody>
      </p:sp>
      <p:graphicFrame>
        <p:nvGraphicFramePr>
          <p:cNvPr id="5" name="Table 4"/>
          <p:cNvGraphicFramePr>
            <a:graphicFrameLocks noGrp="1"/>
          </p:cNvGraphicFramePr>
          <p:nvPr/>
        </p:nvGraphicFramePr>
        <p:xfrm>
          <a:off x="548640" y="1325880"/>
          <a:ext cx="6400800" cy="1536192"/>
        </p:xfrm>
        <a:graphic>
          <a:graphicData uri="http://schemas.openxmlformats.org/drawingml/2006/table">
            <a:tbl>
              <a:tblPr firstRow="1" bandRow="1">
                <a:tableStyleId>{5C22544A-7EE6-4342-B048-85BDC9FD1C3A}</a:tableStyleId>
              </a:tblPr>
              <a:tblGrid>
                <a:gridCol w="711200"/>
                <a:gridCol w="1422400"/>
                <a:gridCol w="1422400"/>
                <a:gridCol w="1422400"/>
                <a:gridCol w="1422400"/>
              </a:tblGrid>
              <a:tr h="384048">
                <a:tc>
                  <a:txBody>
                    <a:bodyPr wrap="square"/>
                    <a:lstStyle/>
                    <a:p>
                      <a:pPr algn="l"/>
                      <a:r>
                        <a:rPr sz="1400" b="1" i="0">
                          <a:solidFill>
                            <a:srgbClr val="FFFFFF"/>
                          </a:solidFill>
                          <a:latin typeface="Calibri"/>
                        </a:rPr>
                        <a:t>N</a:t>
                      </a:r>
                    </a:p>
                  </a:txBody>
                  <a:tcPr marL="54864" marR="54864" marT="18288" marB="18288" anchor="ctr">
                    <a:solidFill>
                      <a:srgbClr val="1F3A5F"/>
                    </a:solidFill>
                  </a:tcPr>
                </a:tc>
                <a:tc>
                  <a:txBody>
                    <a:bodyPr wrap="square"/>
                    <a:lstStyle/>
                    <a:p>
                      <a:pPr algn="ctr"/>
                      <a:r>
                        <a:rPr sz="1400" b="1" i="0">
                          <a:solidFill>
                            <a:srgbClr val="FFFFFF"/>
                          </a:solidFill>
                          <a:latin typeface="Calibri"/>
                        </a:rPr>
                        <a:t>Optimal</a:t>
                      </a:r>
                    </a:p>
                  </a:txBody>
                  <a:tcPr marL="54864" marR="54864" marT="18288" marB="18288" anchor="ctr">
                    <a:solidFill>
                      <a:srgbClr val="1F3A5F"/>
                    </a:solidFill>
                  </a:tcPr>
                </a:tc>
                <a:tc>
                  <a:txBody>
                    <a:bodyPr wrap="square"/>
                    <a:lstStyle/>
                    <a:p>
                      <a:pPr algn="ctr"/>
                      <a:r>
                        <a:rPr sz="1400" b="1" i="0">
                          <a:solidFill>
                            <a:srgbClr val="FFFFFF"/>
                          </a:solidFill>
                          <a:latin typeface="Calibri"/>
                        </a:rPr>
                        <a:t>Myopic</a:t>
                      </a:r>
                    </a:p>
                  </a:txBody>
                  <a:tcPr marL="54864" marR="54864" marT="18288" marB="18288" anchor="ctr">
                    <a:solidFill>
                      <a:srgbClr val="1F3A5F"/>
                    </a:solidFill>
                  </a:tcPr>
                </a:tc>
                <a:tc>
                  <a:txBody>
                    <a:bodyPr wrap="square"/>
                    <a:lstStyle/>
                    <a:p>
                      <a:pPr algn="ctr"/>
                      <a:r>
                        <a:rPr sz="1400" b="1" i="0">
                          <a:solidFill>
                            <a:srgbClr val="FFFFFF"/>
                          </a:solidFill>
                          <a:latin typeface="Calibri"/>
                        </a:rPr>
                        <a:t>LSVI-UCB</a:t>
                      </a:r>
                    </a:p>
                  </a:txBody>
                  <a:tcPr marL="54864" marR="54864" marT="18288" marB="18288" anchor="ctr">
                    <a:solidFill>
                      <a:srgbClr val="1F3A5F"/>
                    </a:solidFill>
                  </a:tcPr>
                </a:tc>
                <a:tc>
                  <a:txBody>
                    <a:bodyPr wrap="square"/>
                    <a:lstStyle/>
                    <a:p>
                      <a:pPr algn="ctr"/>
                      <a:r>
                        <a:rPr sz="1400" b="1" i="0">
                          <a:solidFill>
                            <a:srgbClr val="FFFFFF"/>
                          </a:solidFill>
                          <a:latin typeface="Calibri"/>
                        </a:rPr>
                        <a:t>MNL-VQL</a:t>
                      </a:r>
                    </a:p>
                  </a:txBody>
                  <a:tcPr marL="54864" marR="54864" marT="18288" marB="18288" anchor="ctr">
                    <a:solidFill>
                      <a:srgbClr val="1F3A5F"/>
                    </a:solidFill>
                  </a:tcPr>
                </a:tc>
              </a:tr>
              <a:tr h="384048">
                <a:tc>
                  <a:txBody>
                    <a:bodyPr wrap="square"/>
                    <a:lstStyle/>
                    <a:p>
                      <a:pPr algn="l"/>
                      <a:r>
                        <a:rPr sz="1400" b="0" i="0">
                          <a:solidFill>
                            <a:srgbClr val="222222"/>
                          </a:solidFill>
                          <a:latin typeface="Calibri"/>
                        </a:rPr>
                        <a:t>10</a:t>
                      </a:r>
                    </a:p>
                  </a:txBody>
                  <a:tcPr marL="54864" marR="54864" marT="18288" marB="18288" anchor="ctr">
                    <a:solidFill>
                      <a:srgbClr val="FFFFFF"/>
                    </a:solidFill>
                  </a:tcPr>
                </a:tc>
                <a:tc>
                  <a:txBody>
                    <a:bodyPr wrap="square"/>
                    <a:lstStyle/>
                    <a:p>
                      <a:pPr algn="ctr"/>
                      <a:r>
                        <a:rPr sz="1400" b="0" i="0">
                          <a:solidFill>
                            <a:srgbClr val="222222"/>
                          </a:solidFill>
                          <a:latin typeface="Calibri"/>
                        </a:rPr>
                        <a:t>0.680 ± 0.071</a:t>
                      </a:r>
                    </a:p>
                  </a:txBody>
                  <a:tcPr marL="54864" marR="54864" marT="18288" marB="18288" anchor="ctr">
                    <a:solidFill>
                      <a:srgbClr val="FFFFFF"/>
                    </a:solidFill>
                  </a:tcPr>
                </a:tc>
                <a:tc>
                  <a:txBody>
                    <a:bodyPr wrap="square"/>
                    <a:lstStyle/>
                    <a:p>
                      <a:pPr algn="ctr"/>
                      <a:r>
                        <a:rPr sz="1400" b="0" i="0">
                          <a:solidFill>
                            <a:srgbClr val="222222"/>
                          </a:solidFill>
                          <a:latin typeface="Calibri"/>
                        </a:rPr>
                        <a:t>0.513 ± 0.050</a:t>
                      </a:r>
                    </a:p>
                  </a:txBody>
                  <a:tcPr marL="54864" marR="54864" marT="18288" marB="18288" anchor="ctr">
                    <a:solidFill>
                      <a:srgbClr val="FFFFFF"/>
                    </a:solidFill>
                  </a:tcPr>
                </a:tc>
                <a:tc>
                  <a:txBody>
                    <a:bodyPr wrap="square"/>
                    <a:lstStyle/>
                    <a:p>
                      <a:pPr algn="ctr"/>
                      <a:r>
                        <a:rPr sz="1400" b="0" i="0">
                          <a:solidFill>
                            <a:srgbClr val="222222"/>
                          </a:solidFill>
                          <a:latin typeface="Calibri"/>
                        </a:rPr>
                        <a:t>0.513 ± 0.041</a:t>
                      </a:r>
                    </a:p>
                  </a:txBody>
                  <a:tcPr marL="54864" marR="54864" marT="18288" marB="18288" anchor="ctr">
                    <a:solidFill>
                      <a:srgbClr val="FFFFFF"/>
                    </a:solidFill>
                  </a:tcPr>
                </a:tc>
                <a:tc>
                  <a:txBody>
                    <a:bodyPr wrap="square"/>
                    <a:lstStyle/>
                    <a:p>
                      <a:pPr algn="ctr"/>
                      <a:r>
                        <a:rPr sz="1400" b="0" i="0">
                          <a:solidFill>
                            <a:srgbClr val="222222"/>
                          </a:solidFill>
                          <a:latin typeface="Calibri"/>
                        </a:rPr>
                        <a:t>0.678 ± 0.074</a:t>
                      </a:r>
                    </a:p>
                  </a:txBody>
                  <a:tcPr marL="54864" marR="54864" marT="18288" marB="18288" anchor="ctr">
                    <a:solidFill>
                      <a:srgbClr val="FFFFFF"/>
                    </a:solidFill>
                  </a:tcPr>
                </a:tc>
              </a:tr>
              <a:tr h="384048">
                <a:tc>
                  <a:txBody>
                    <a:bodyPr wrap="square"/>
                    <a:lstStyle/>
                    <a:p>
                      <a:pPr algn="l"/>
                      <a:r>
                        <a:rPr sz="1400" b="0" i="0">
                          <a:solidFill>
                            <a:srgbClr val="222222"/>
                          </a:solidFill>
                          <a:latin typeface="Calibri"/>
                        </a:rPr>
                        <a:t>20</a:t>
                      </a:r>
                    </a:p>
                  </a:txBody>
                  <a:tcPr marL="54864" marR="54864" marT="18288" marB="18288" anchor="ctr">
                    <a:solidFill>
                      <a:srgbClr val="EEF2F7"/>
                    </a:solidFill>
                  </a:tcPr>
                </a:tc>
                <a:tc>
                  <a:txBody>
                    <a:bodyPr wrap="square"/>
                    <a:lstStyle/>
                    <a:p>
                      <a:pPr algn="ctr"/>
                      <a:r>
                        <a:rPr sz="1400" b="0" i="0">
                          <a:solidFill>
                            <a:srgbClr val="222222"/>
                          </a:solidFill>
                          <a:latin typeface="Calibri"/>
                        </a:rPr>
                        <a:t>0.719 ± 0.024</a:t>
                      </a:r>
                    </a:p>
                  </a:txBody>
                  <a:tcPr marL="54864" marR="54864" marT="18288" marB="18288" anchor="ctr">
                    <a:solidFill>
                      <a:srgbClr val="EEF2F7"/>
                    </a:solidFill>
                  </a:tcPr>
                </a:tc>
                <a:tc>
                  <a:txBody>
                    <a:bodyPr wrap="square"/>
                    <a:lstStyle/>
                    <a:p>
                      <a:pPr algn="ctr"/>
                      <a:r>
                        <a:rPr sz="1400" b="0" i="0">
                          <a:solidFill>
                            <a:srgbClr val="222222"/>
                          </a:solidFill>
                          <a:latin typeface="Calibri"/>
                        </a:rPr>
                        <a:t>0.524 ± 0.029</a:t>
                      </a:r>
                    </a:p>
                  </a:txBody>
                  <a:tcPr marL="54864" marR="54864" marT="18288" marB="18288" anchor="ctr">
                    <a:solidFill>
                      <a:srgbClr val="EEF2F7"/>
                    </a:solidFill>
                  </a:tcPr>
                </a:tc>
                <a:tc>
                  <a:txBody>
                    <a:bodyPr wrap="square"/>
                    <a:lstStyle/>
                    <a:p>
                      <a:pPr algn="ctr"/>
                      <a:r>
                        <a:rPr sz="1400" b="0" i="0">
                          <a:solidFill>
                            <a:srgbClr val="222222"/>
                          </a:solidFill>
                          <a:latin typeface="Calibri"/>
                        </a:rPr>
                        <a:t>0.546 ± 0.049</a:t>
                      </a:r>
                    </a:p>
                  </a:txBody>
                  <a:tcPr marL="54864" marR="54864" marT="18288" marB="18288" anchor="ctr">
                    <a:solidFill>
                      <a:srgbClr val="EEF2F7"/>
                    </a:solidFill>
                  </a:tcPr>
                </a:tc>
                <a:tc>
                  <a:txBody>
                    <a:bodyPr wrap="square"/>
                    <a:lstStyle/>
                    <a:p>
                      <a:pPr algn="ctr"/>
                      <a:r>
                        <a:rPr sz="1400" b="0" i="0">
                          <a:solidFill>
                            <a:srgbClr val="222222"/>
                          </a:solidFill>
                          <a:latin typeface="Calibri"/>
                        </a:rPr>
                        <a:t>0.718 ± 0.026</a:t>
                      </a:r>
                    </a:p>
                  </a:txBody>
                  <a:tcPr marL="54864" marR="54864" marT="18288" marB="18288" anchor="ctr">
                    <a:solidFill>
                      <a:srgbClr val="EEF2F7"/>
                    </a:solidFill>
                  </a:tcPr>
                </a:tc>
              </a:tr>
              <a:tr h="384048">
                <a:tc>
                  <a:txBody>
                    <a:bodyPr wrap="square"/>
                    <a:lstStyle/>
                    <a:p>
                      <a:pPr algn="l"/>
                      <a:r>
                        <a:rPr sz="1400" b="0" i="0">
                          <a:solidFill>
                            <a:srgbClr val="222222"/>
                          </a:solidFill>
                          <a:latin typeface="Calibri"/>
                        </a:rPr>
                        <a:t>40</a:t>
                      </a:r>
                    </a:p>
                  </a:txBody>
                  <a:tcPr marL="54864" marR="54864" marT="18288" marB="18288" anchor="ctr">
                    <a:solidFill>
                      <a:srgbClr val="FFFFFF"/>
                    </a:solidFill>
                  </a:tcPr>
                </a:tc>
                <a:tc>
                  <a:txBody>
                    <a:bodyPr wrap="square"/>
                    <a:lstStyle/>
                    <a:p>
                      <a:pPr algn="ctr"/>
                      <a:r>
                        <a:rPr sz="1400" b="0" i="0">
                          <a:solidFill>
                            <a:srgbClr val="222222"/>
                          </a:solidFill>
                          <a:latin typeface="Calibri"/>
                        </a:rPr>
                        <a:t>0.705 ± 0.061</a:t>
                      </a:r>
                    </a:p>
                  </a:txBody>
                  <a:tcPr marL="54864" marR="54864" marT="18288" marB="18288" anchor="ctr">
                    <a:solidFill>
                      <a:srgbClr val="FFFFFF"/>
                    </a:solidFill>
                  </a:tcPr>
                </a:tc>
                <a:tc>
                  <a:txBody>
                    <a:bodyPr wrap="square"/>
                    <a:lstStyle/>
                    <a:p>
                      <a:pPr algn="ctr"/>
                      <a:r>
                        <a:rPr sz="1400" b="0" i="0">
                          <a:solidFill>
                            <a:srgbClr val="222222"/>
                          </a:solidFill>
                          <a:latin typeface="Calibri"/>
                        </a:rPr>
                        <a:t>0.444 ± 0.079</a:t>
                      </a:r>
                    </a:p>
                  </a:txBody>
                  <a:tcPr marL="54864" marR="54864" marT="18288" marB="18288" anchor="ctr">
                    <a:solidFill>
                      <a:srgbClr val="FFFFFF"/>
                    </a:solidFill>
                  </a:tcPr>
                </a:tc>
                <a:tc>
                  <a:txBody>
                    <a:bodyPr wrap="square"/>
                    <a:lstStyle/>
                    <a:p>
                      <a:pPr algn="ctr"/>
                      <a:r>
                        <a:rPr sz="1400" b="0" i="0">
                          <a:solidFill>
                            <a:srgbClr val="222222"/>
                          </a:solidFill>
                          <a:latin typeface="Calibri"/>
                        </a:rPr>
                        <a:t>not run</a:t>
                      </a:r>
                    </a:p>
                  </a:txBody>
                  <a:tcPr marL="54864" marR="54864" marT="18288" marB="18288" anchor="ctr">
                    <a:solidFill>
                      <a:srgbClr val="FFFFFF"/>
                    </a:solidFill>
                  </a:tcPr>
                </a:tc>
                <a:tc>
                  <a:txBody>
                    <a:bodyPr wrap="square"/>
                    <a:lstStyle/>
                    <a:p>
                      <a:pPr algn="ctr"/>
                      <a:r>
                        <a:rPr sz="1400" b="0" i="0">
                          <a:solidFill>
                            <a:srgbClr val="222222"/>
                          </a:solidFill>
                          <a:latin typeface="Calibri"/>
                        </a:rPr>
                        <a:t>0.706 ± 0.060</a:t>
                      </a:r>
                    </a:p>
                  </a:txBody>
                  <a:tcPr marL="54864" marR="54864" marT="18288" marB="18288" anchor="ctr">
                    <a:solidFill>
                      <a:srgbClr val="FFFFFF"/>
                    </a:solidFill>
                  </a:tcPr>
                </a:tc>
              </a:tr>
            </a:tbl>
          </a:graphicData>
        </a:graphic>
      </p:graphicFrame>
      <p:pic>
        <p:nvPicPr>
          <p:cNvPr id="6" name="Picture 5" descr="fig_synthetic.png"/>
          <p:cNvPicPr>
            <a:picLocks noChangeAspect="1"/>
          </p:cNvPicPr>
          <p:nvPr/>
        </p:nvPicPr>
        <p:blipFill>
          <a:blip r:embed="rId3"/>
          <a:stretch>
            <a:fillRect/>
          </a:stretch>
        </p:blipFill>
        <p:spPr>
          <a:xfrm>
            <a:off x="1595285" y="3063240"/>
            <a:ext cx="9001125" cy="2286000"/>
          </a:xfrm>
          <a:prstGeom prst="rect">
            <a:avLst/>
          </a:prstGeom>
        </p:spPr>
      </p:pic>
      <p:sp>
        <p:nvSpPr>
          <p:cNvPr id="7" name="TextBox 6"/>
          <p:cNvSpPr txBox="1"/>
          <p:nvPr/>
        </p:nvSpPr>
        <p:spPr>
          <a:xfrm>
            <a:off x="7223760" y="1280160"/>
            <a:ext cx="4434840" cy="1737360"/>
          </a:xfrm>
          <a:prstGeom prst="rect">
            <a:avLst/>
          </a:prstGeom>
          <a:noFill/>
        </p:spPr>
        <p:txBody>
          <a:bodyPr wrap="square">
            <a:spAutoFit/>
          </a:bodyPr>
          <a:lstStyle/>
          <a:p>
            <a:pPr>
              <a:spcAft>
                <a:spcPts val="400"/>
              </a:spcAft>
            </a:pPr>
            <a:r>
              <a:rPr sz="1000" b="0" i="0">
                <a:solidFill>
                  <a:srgbClr val="1F3A5F"/>
                </a:solidFill>
                <a:latin typeface="Calibri"/>
              </a:rPr>
              <a:t>■  </a:t>
            </a:r>
            <a:r>
              <a:rPr sz="1600" b="0" i="0">
                <a:solidFill>
                  <a:srgbClr val="222222"/>
                </a:solidFill>
                <a:latin typeface="Calibri"/>
              </a:rPr>
              <a:t>MNL-VQL within 1% of optimal</a:t>
            </a:r>
          </a:p>
          <a:p>
            <a:pPr>
              <a:spcAft>
                <a:spcPts val="400"/>
              </a:spcAft>
            </a:pPr>
            <a:r>
              <a:rPr sz="1000" b="0" i="0">
                <a:solidFill>
                  <a:srgbClr val="1F3A5F"/>
                </a:solidFill>
                <a:latin typeface="Calibri"/>
              </a:rPr>
              <a:t>■  </a:t>
            </a:r>
            <a:r>
              <a:rPr sz="1600" b="0" i="0">
                <a:solidFill>
                  <a:srgbClr val="222222"/>
                </a:solidFill>
                <a:latin typeface="Calibri"/>
              </a:rPr>
              <a:t>Myopic 25-37% below optimal</a:t>
            </a:r>
          </a:p>
          <a:p>
            <a:pPr>
              <a:spcAft>
                <a:spcPts val="400"/>
              </a:spcAft>
            </a:pPr>
            <a:r>
              <a:rPr sz="1000" b="0" i="0">
                <a:solidFill>
                  <a:srgbClr val="1F3A5F"/>
                </a:solidFill>
                <a:latin typeface="Calibri"/>
              </a:rPr>
              <a:t>■  </a:t>
            </a:r>
            <a:r>
              <a:rPr sz="1600" b="0" i="0">
                <a:solidFill>
                  <a:srgbClr val="222222"/>
                </a:solidFill>
                <a:latin typeface="Calibri"/>
              </a:rPr>
              <a:t>LSVI-UCB = Myopic at N = 10 (0.513 ± 0.041 vs 0.513 ± 0.050); slow (combinatorial actions)</a:t>
            </a:r>
          </a:p>
        </p:txBody>
      </p:sp>
      <p:sp>
        <p:nvSpPr>
          <p:cNvPr id="8" name="Rectangle 7"/>
          <p:cNvSpPr/>
          <p:nvPr/>
        </p:nvSpPr>
        <p:spPr>
          <a:xfrm>
            <a:off x="548640" y="5623560"/>
            <a:ext cx="11094415" cy="5486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0">
                <a:solidFill>
                  <a:srgbClr val="FFFFFF"/>
                </a:solidFill>
                <a:latin typeface="Calibri"/>
              </a:rPr>
              <a:t>Takeaway: RL beats myopic when transitions depend on the choice (first clean instance)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MovieLens-1M user simulator</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8</a:t>
            </a:r>
          </a:p>
        </p:txBody>
      </p:sp>
      <p:sp>
        <p:nvSpPr>
          <p:cNvPr id="5" name="TextBox 4"/>
          <p:cNvSpPr txBox="1"/>
          <p:nvPr/>
        </p:nvSpPr>
        <p:spPr>
          <a:xfrm>
            <a:off x="548640" y="1371600"/>
            <a:ext cx="6492240" cy="4206240"/>
          </a:xfrm>
          <a:prstGeom prst="rect">
            <a:avLst/>
          </a:prstGeom>
          <a:noFill/>
        </p:spPr>
        <p:txBody>
          <a:bodyPr wrap="square">
            <a:spAutoFit/>
          </a:bodyPr>
          <a:lstStyle/>
          <a:p>
            <a:pPr>
              <a:spcAft>
                <a:spcPts val="1200"/>
              </a:spcAft>
            </a:pPr>
            <a:r>
              <a:rPr sz="1100" b="0" i="0">
                <a:solidFill>
                  <a:srgbClr val="1F3A5F"/>
                </a:solidFill>
                <a:latin typeface="Calibri"/>
              </a:rPr>
              <a:t>■  </a:t>
            </a:r>
            <a:r>
              <a:rPr sz="1700" b="1" i="0">
                <a:solidFill>
                  <a:srgbClr val="1F3A5F"/>
                </a:solidFill>
                <a:latin typeface="Calibri"/>
              </a:rPr>
              <a:t>Catalogue:</a:t>
            </a:r>
            <a:r>
              <a:rPr sz="1700" b="0" i="0">
                <a:solidFill>
                  <a:srgbClr val="222222"/>
                </a:solidFill>
                <a:latin typeface="Calibri"/>
              </a:rPr>
              <a:t> 500 most-rated movies; ALS (rank 32) gives predicted rating r̂(u,i)</a:t>
            </a:r>
          </a:p>
          <a:p>
            <a:pPr>
              <a:spcAft>
                <a:spcPts val="1200"/>
              </a:spcAft>
            </a:pPr>
            <a:r>
              <a:rPr sz="1100" b="0" i="0">
                <a:solidFill>
                  <a:srgbClr val="1F3A5F"/>
                </a:solidFill>
                <a:latin typeface="Calibri"/>
              </a:rPr>
              <a:t>■  </a:t>
            </a:r>
            <a:r>
              <a:rPr sz="1700" b="1" i="0">
                <a:solidFill>
                  <a:srgbClr val="1F3A5F"/>
                </a:solidFill>
                <a:latin typeface="Calibri"/>
              </a:rPr>
              <a:t>Junk:</a:t>
            </a:r>
            <a:r>
              <a:rPr sz="1700" b="0" i="0">
                <a:solidFill>
                  <a:srgbClr val="222222"/>
                </a:solidFill>
                <a:latin typeface="Calibri"/>
              </a:rPr>
              <a:t> bottom 25% by mean rating, made more clickable (κ = 1), like clickbait</a:t>
            </a:r>
          </a:p>
          <a:p>
            <a:pPr>
              <a:spcAft>
                <a:spcPts val="1200"/>
              </a:spcAft>
            </a:pPr>
            <a:r>
              <a:rPr sz="1100" b="0" i="0">
                <a:solidFill>
                  <a:srgbClr val="1F3A5F"/>
                </a:solidFill>
                <a:latin typeface="Calibri"/>
              </a:rPr>
              <a:t>■  </a:t>
            </a:r>
            <a:r>
              <a:rPr sz="1700" b="1" i="0">
                <a:solidFill>
                  <a:srgbClr val="1F3A5F"/>
                </a:solidFill>
                <a:latin typeface="Calibri"/>
              </a:rPr>
              <a:t>Choice:</a:t>
            </a:r>
            <a:r>
              <a:rPr sz="1700" b="0" i="0">
                <a:solidFill>
                  <a:srgbClr val="222222"/>
                </a:solidFill>
                <a:latin typeface="Calibri"/>
              </a:rPr>
              <a:t> MNL, v = b₀ + (r̂ − 3.5) + κ·junk − s·λ·fatigue·genres</a:t>
            </a:r>
          </a:p>
          <a:p>
            <a:pPr>
              <a:spcAft>
                <a:spcPts val="1200"/>
              </a:spcAft>
            </a:pPr>
            <a:r>
              <a:rPr sz="1100" b="0" i="0">
                <a:solidFill>
                  <a:srgbClr val="1F3A5F"/>
                </a:solidFill>
                <a:latin typeface="Calibri"/>
              </a:rPr>
              <a:t>■  </a:t>
            </a:r>
            <a:r>
              <a:rPr sz="1700" b="1" i="0">
                <a:solidFill>
                  <a:srgbClr val="1F3A5F"/>
                </a:solidFill>
                <a:latin typeface="Calibri"/>
              </a:rPr>
              <a:t>Satisfaction:</a:t>
            </a:r>
            <a:r>
              <a:rPr sz="1700" b="0" i="0">
                <a:solidFill>
                  <a:srgbClr val="222222"/>
                </a:solidFill>
                <a:latin typeface="Calibri"/>
              </a:rPr>
              <a:t> good clicks raise it, bad/junk clicks lower it</a:t>
            </a:r>
          </a:p>
          <a:p>
            <a:pPr>
              <a:spcAft>
                <a:spcPts val="1200"/>
              </a:spcAft>
            </a:pPr>
            <a:r>
              <a:rPr sz="1100" b="0" i="0">
                <a:solidFill>
                  <a:srgbClr val="1F3A5F"/>
                </a:solidFill>
                <a:latin typeface="Calibri"/>
              </a:rPr>
              <a:t>■  </a:t>
            </a:r>
            <a:r>
              <a:rPr sz="1700" b="1" i="0">
                <a:solidFill>
                  <a:srgbClr val="1F3A5F"/>
                </a:solidFill>
                <a:latin typeface="Calibri"/>
              </a:rPr>
              <a:t>Exit:</a:t>
            </a:r>
            <a:r>
              <a:rPr sz="1700" b="0" i="0">
                <a:solidFill>
                  <a:srgbClr val="222222"/>
                </a:solidFill>
                <a:latin typeface="Calibri"/>
              </a:rPr>
              <a:t> junk click → leave w.p. 0.3 s; each step leave w.p. 0.05 + 0.4 s (1 − σ); cap 30 steps</a:t>
            </a:r>
          </a:p>
        </p:txBody>
      </p:sp>
      <p:sp>
        <p:nvSpPr>
          <p:cNvPr id="6" name="Rounded Rectangle 5"/>
          <p:cNvSpPr/>
          <p:nvPr/>
        </p:nvSpPr>
        <p:spPr>
          <a:xfrm>
            <a:off x="7406640" y="1371600"/>
            <a:ext cx="4206240" cy="146304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700" b="1" i="0">
                <a:solidFill>
                  <a:srgbClr val="1F3A5F"/>
                </a:solidFill>
                <a:latin typeface="Calibri"/>
              </a:rPr>
              <a:t>One knob: strength s ∈ [0, 1]</a:t>
            </a:r>
          </a:p>
          <a:p>
            <a:pPr>
              <a:spcBef>
                <a:spcPts val="500"/>
              </a:spcBef>
            </a:pPr>
            <a:r>
              <a:rPr sz="1600" b="0" i="0">
                <a:solidFill>
                  <a:srgbClr val="222222"/>
                </a:solidFill>
                <a:latin typeface="Calibri"/>
              </a:rPr>
              <a:t>Scales every long-term effect (satisfaction, fatigue, leaving)</a:t>
            </a:r>
          </a:p>
        </p:txBody>
      </p:sp>
      <p:sp>
        <p:nvSpPr>
          <p:cNvPr id="7" name="Rounded Rectangle 6"/>
          <p:cNvSpPr/>
          <p:nvPr/>
        </p:nvSpPr>
        <p:spPr>
          <a:xfrm>
            <a:off x="7406640" y="3063240"/>
            <a:ext cx="4206240" cy="146304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700" b="1" i="0">
                <a:solidFill>
                  <a:srgbClr val="1F3A5F"/>
                </a:solidFill>
                <a:latin typeface="Calibri"/>
              </a:rPr>
              <a:t>s = 0 is the Prop. 2 control</a:t>
            </a:r>
          </a:p>
          <a:p>
            <a:pPr>
              <a:spcBef>
                <a:spcPts val="500"/>
              </a:spcBef>
            </a:pPr>
            <a:r>
              <a:rPr sz="1600" b="0" i="0">
                <a:solidFill>
                  <a:srgbClr val="222222"/>
                </a:solidFill>
                <a:latin typeface="Calibri"/>
              </a:rPr>
              <a:t>Choice does not affect the future, so myopic is optimal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Sanity check: oracle policies in the simulator</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9</a:t>
            </a:r>
          </a:p>
        </p:txBody>
      </p:sp>
      <p:graphicFrame>
        <p:nvGraphicFramePr>
          <p:cNvPr id="5" name="Table 4"/>
          <p:cNvGraphicFramePr>
            <a:graphicFrameLocks noGrp="1"/>
          </p:cNvGraphicFramePr>
          <p:nvPr/>
        </p:nvGraphicFramePr>
        <p:xfrm>
          <a:off x="548640" y="1508760"/>
          <a:ext cx="6949440" cy="2514600"/>
        </p:xfrm>
        <a:graphic>
          <a:graphicData uri="http://schemas.openxmlformats.org/drawingml/2006/table">
            <a:tbl>
              <a:tblPr firstRow="1" bandRow="1">
                <a:tableStyleId>{5C22544A-7EE6-4342-B048-85BDC9FD1C3A}</a:tableStyleId>
              </a:tblPr>
              <a:tblGrid>
                <a:gridCol w="2011680"/>
                <a:gridCol w="2468880"/>
                <a:gridCol w="2468880"/>
              </a:tblGrid>
              <a:tr h="502920">
                <a:tc>
                  <a:txBody>
                    <a:bodyPr wrap="square"/>
                    <a:lstStyle/>
                    <a:p>
                      <a:pPr algn="l"/>
                      <a:r>
                        <a:rPr sz="1600" b="1" i="0">
                          <a:solidFill>
                            <a:srgbClr val="FFFFFF"/>
                          </a:solidFill>
                          <a:latin typeface="Calibri"/>
                        </a:rPr>
                        <a:t>setting</a:t>
                      </a:r>
                    </a:p>
                  </a:txBody>
                  <a:tcPr marL="54864" marR="54864" marT="18288" marB="18288" anchor="ctr">
                    <a:solidFill>
                      <a:srgbClr val="1F3A5F"/>
                    </a:solidFill>
                  </a:tcPr>
                </a:tc>
                <a:tc>
                  <a:txBody>
                    <a:bodyPr wrap="square"/>
                    <a:lstStyle/>
                    <a:p>
                      <a:pPr algn="ctr"/>
                      <a:r>
                        <a:rPr sz="1600" b="1" i="0">
                          <a:solidFill>
                            <a:srgbClr val="FFFFFF"/>
                          </a:solidFill>
                          <a:latin typeface="Calibri"/>
                        </a:rPr>
                        <a:t>myopic oracle (clicks/session)</a:t>
                      </a:r>
                    </a:p>
                  </a:txBody>
                  <a:tcPr marL="54864" marR="54864" marT="18288" marB="18288" anchor="ctr">
                    <a:solidFill>
                      <a:srgbClr val="1F3A5F"/>
                    </a:solidFill>
                  </a:tcPr>
                </a:tc>
                <a:tc>
                  <a:txBody>
                    <a:bodyPr wrap="square"/>
                    <a:lstStyle/>
                    <a:p>
                      <a:pPr algn="ctr"/>
                      <a:r>
                        <a:rPr sz="1600" b="1" i="0">
                          <a:solidFill>
                            <a:srgbClr val="FFFFFF"/>
                          </a:solidFill>
                          <a:latin typeface="Calibri"/>
                        </a:rPr>
                        <a:t>quality oracle (clicks/session)</a:t>
                      </a:r>
                    </a:p>
                  </a:txBody>
                  <a:tcPr marL="54864" marR="54864" marT="18288" marB="18288" anchor="ctr">
                    <a:solidFill>
                      <a:srgbClr val="1F3A5F"/>
                    </a:solidFill>
                  </a:tcPr>
                </a:tc>
              </a:tr>
              <a:tr h="502920">
                <a:tc>
                  <a:txBody>
                    <a:bodyPr wrap="square"/>
                    <a:lstStyle/>
                    <a:p>
                      <a:pPr algn="l"/>
                      <a:r>
                        <a:rPr sz="1600" b="0" i="0">
                          <a:solidFill>
                            <a:srgbClr val="222222"/>
                          </a:solidFill>
                          <a:latin typeface="Calibri"/>
                        </a:rPr>
                        <a:t>s = 0, K = 1</a:t>
                      </a:r>
                    </a:p>
                  </a:txBody>
                  <a:tcPr marL="54864" marR="54864" marT="18288" marB="18288" anchor="ctr">
                    <a:solidFill>
                      <a:srgbClr val="FFFFFF"/>
                    </a:solidFill>
                  </a:tcPr>
                </a:tc>
                <a:tc>
                  <a:txBody>
                    <a:bodyPr wrap="square"/>
                    <a:lstStyle/>
                    <a:p>
                      <a:pPr algn="ctr"/>
                      <a:r>
                        <a:rPr sz="1600" b="0" i="0">
                          <a:solidFill>
                            <a:srgbClr val="222222"/>
                          </a:solidFill>
                          <a:latin typeface="Calibri"/>
                        </a:rPr>
                        <a:t>6.19</a:t>
                      </a:r>
                    </a:p>
                  </a:txBody>
                  <a:tcPr marL="54864" marR="54864" marT="18288" marB="18288" anchor="ctr">
                    <a:solidFill>
                      <a:srgbClr val="FFFFFF"/>
                    </a:solidFill>
                  </a:tcPr>
                </a:tc>
                <a:tc>
                  <a:txBody>
                    <a:bodyPr wrap="square"/>
                    <a:lstStyle/>
                    <a:p>
                      <a:pPr algn="ctr"/>
                      <a:r>
                        <a:rPr sz="1600" b="0" i="0">
                          <a:solidFill>
                            <a:srgbClr val="222222"/>
                          </a:solidFill>
                          <a:latin typeface="Calibri"/>
                        </a:rPr>
                        <a:t>4.95</a:t>
                      </a:r>
                    </a:p>
                  </a:txBody>
                  <a:tcPr marL="54864" marR="54864" marT="18288" marB="18288" anchor="ctr">
                    <a:solidFill>
                      <a:srgbClr val="FFFFFF"/>
                    </a:solidFill>
                  </a:tcPr>
                </a:tc>
              </a:tr>
              <a:tr h="502920">
                <a:tc>
                  <a:txBody>
                    <a:bodyPr wrap="square"/>
                    <a:lstStyle/>
                    <a:p>
                      <a:pPr algn="l"/>
                      <a:r>
                        <a:rPr sz="1600" b="0" i="0">
                          <a:solidFill>
                            <a:srgbClr val="222222"/>
                          </a:solidFill>
                          <a:latin typeface="Calibri"/>
                        </a:rPr>
                        <a:t>s = 0.25, K = 1</a:t>
                      </a:r>
                    </a:p>
                  </a:txBody>
                  <a:tcPr marL="54864" marR="54864" marT="18288" marB="18288" anchor="ctr">
                    <a:solidFill>
                      <a:srgbClr val="EEF2F7"/>
                    </a:solidFill>
                  </a:tcPr>
                </a:tc>
                <a:tc>
                  <a:txBody>
                    <a:bodyPr wrap="square"/>
                    <a:lstStyle/>
                    <a:p>
                      <a:pPr algn="ctr"/>
                      <a:r>
                        <a:rPr sz="1600" b="0" i="0">
                          <a:solidFill>
                            <a:srgbClr val="222222"/>
                          </a:solidFill>
                          <a:latin typeface="Calibri"/>
                        </a:rPr>
                        <a:t>3.24</a:t>
                      </a:r>
                    </a:p>
                  </a:txBody>
                  <a:tcPr marL="54864" marR="54864" marT="18288" marB="18288" anchor="ctr">
                    <a:solidFill>
                      <a:srgbClr val="EEF2F7"/>
                    </a:solidFill>
                  </a:tcPr>
                </a:tc>
                <a:tc>
                  <a:txBody>
                    <a:bodyPr wrap="square"/>
                    <a:lstStyle/>
                    <a:p>
                      <a:pPr algn="ctr"/>
                      <a:r>
                        <a:rPr sz="1600" b="0" i="0">
                          <a:solidFill>
                            <a:srgbClr val="222222"/>
                          </a:solidFill>
                          <a:latin typeface="Calibri"/>
                        </a:rPr>
                        <a:t>3.29</a:t>
                      </a:r>
                    </a:p>
                  </a:txBody>
                  <a:tcPr marL="54864" marR="54864" marT="18288" marB="18288" anchor="ctr">
                    <a:solidFill>
                      <a:srgbClr val="EEF2F7"/>
                    </a:solidFill>
                  </a:tcPr>
                </a:tc>
              </a:tr>
              <a:tr h="502920">
                <a:tc>
                  <a:txBody>
                    <a:bodyPr wrap="square"/>
                    <a:lstStyle/>
                    <a:p>
                      <a:pPr algn="l"/>
                      <a:r>
                        <a:rPr sz="1600" b="0" i="0">
                          <a:solidFill>
                            <a:srgbClr val="222222"/>
                          </a:solidFill>
                          <a:latin typeface="Calibri"/>
                        </a:rPr>
                        <a:t>s = 0.25, K = 5</a:t>
                      </a:r>
                    </a:p>
                  </a:txBody>
                  <a:tcPr marL="54864" marR="54864" marT="18288" marB="18288" anchor="ctr">
                    <a:solidFill>
                      <a:srgbClr val="FFFFFF"/>
                    </a:solidFill>
                  </a:tcPr>
                </a:tc>
                <a:tc>
                  <a:txBody>
                    <a:bodyPr wrap="square"/>
                    <a:lstStyle/>
                    <a:p>
                      <a:pPr algn="ctr"/>
                      <a:r>
                        <a:rPr sz="1600" b="0" i="0">
                          <a:solidFill>
                            <a:srgbClr val="222222"/>
                          </a:solidFill>
                          <a:latin typeface="Calibri"/>
                        </a:rPr>
                        <a:t>5.50</a:t>
                      </a:r>
                    </a:p>
                  </a:txBody>
                  <a:tcPr marL="54864" marR="54864" marT="18288" marB="18288" anchor="ctr">
                    <a:solidFill>
                      <a:srgbClr val="FFFFFF"/>
                    </a:solidFill>
                  </a:tcPr>
                </a:tc>
                <a:tc>
                  <a:txBody>
                    <a:bodyPr wrap="square"/>
                    <a:lstStyle/>
                    <a:p>
                      <a:pPr algn="ctr"/>
                      <a:r>
                        <a:rPr sz="1600" b="0" i="0">
                          <a:solidFill>
                            <a:srgbClr val="222222"/>
                          </a:solidFill>
                          <a:latin typeface="Calibri"/>
                        </a:rPr>
                        <a:t>7.90</a:t>
                      </a:r>
                    </a:p>
                  </a:txBody>
                  <a:tcPr marL="54864" marR="54864" marT="18288" marB="18288" anchor="ctr">
                    <a:solidFill>
                      <a:srgbClr val="FFFFFF"/>
                    </a:solidFill>
                  </a:tcPr>
                </a:tc>
              </a:tr>
              <a:tr h="502920">
                <a:tc>
                  <a:txBody>
                    <a:bodyPr wrap="square"/>
                    <a:lstStyle/>
                    <a:p>
                      <a:pPr algn="l"/>
                      <a:r>
                        <a:rPr sz="1600" b="0" i="0">
                          <a:solidFill>
                            <a:srgbClr val="222222"/>
                          </a:solidFill>
                          <a:latin typeface="Calibri"/>
                        </a:rPr>
                        <a:t>s = 1, K = 5</a:t>
                      </a:r>
                    </a:p>
                  </a:txBody>
                  <a:tcPr marL="54864" marR="54864" marT="18288" marB="18288" anchor="ctr">
                    <a:solidFill>
                      <a:srgbClr val="EEF2F7"/>
                    </a:solidFill>
                  </a:tcPr>
                </a:tc>
                <a:tc>
                  <a:txBody>
                    <a:bodyPr wrap="square"/>
                    <a:lstStyle/>
                    <a:p>
                      <a:pPr algn="ctr"/>
                      <a:r>
                        <a:rPr sz="1600" b="0" i="0">
                          <a:solidFill>
                            <a:srgbClr val="222222"/>
                          </a:solidFill>
                          <a:latin typeface="Calibri"/>
                        </a:rPr>
                        <a:t>2.40</a:t>
                      </a:r>
                    </a:p>
                  </a:txBody>
                  <a:tcPr marL="54864" marR="54864" marT="18288" marB="18288" anchor="ctr">
                    <a:solidFill>
                      <a:srgbClr val="EEF2F7"/>
                    </a:solidFill>
                  </a:tcPr>
                </a:tc>
                <a:tc>
                  <a:txBody>
                    <a:bodyPr wrap="square"/>
                    <a:lstStyle/>
                    <a:p>
                      <a:pPr algn="ctr"/>
                      <a:r>
                        <a:rPr sz="1600" b="0" i="0">
                          <a:solidFill>
                            <a:srgbClr val="222222"/>
                          </a:solidFill>
                          <a:latin typeface="Calibri"/>
                        </a:rPr>
                        <a:t>6.03</a:t>
                      </a:r>
                    </a:p>
                  </a:txBody>
                  <a:tcPr marL="54864" marR="54864" marT="18288" marB="18288" anchor="ctr">
                    <a:solidFill>
                      <a:srgbClr val="EEF2F7"/>
                    </a:solidFill>
                  </a:tcPr>
                </a:tc>
              </a:tr>
            </a:tbl>
          </a:graphicData>
        </a:graphic>
      </p:graphicFrame>
      <p:sp>
        <p:nvSpPr>
          <p:cNvPr id="6" name="Rounded Rectangle 5"/>
          <p:cNvSpPr/>
          <p:nvPr/>
        </p:nvSpPr>
        <p:spPr>
          <a:xfrm>
            <a:off x="7955279" y="1508760"/>
            <a:ext cx="3657600" cy="173736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700" b="1" i="0">
                <a:solidFill>
                  <a:srgbClr val="1F3A5F"/>
                </a:solidFill>
                <a:latin typeface="Calibri"/>
              </a:rPr>
              <a:t>Oracles (use hidden state)</a:t>
            </a:r>
          </a:p>
          <a:p>
            <a:pPr>
              <a:spcBef>
                <a:spcPts val="500"/>
              </a:spcBef>
            </a:pPr>
            <a:r>
              <a:rPr sz="1600" b="1" i="0">
                <a:solidFill>
                  <a:srgbClr val="1F3A5F"/>
                </a:solidFill>
                <a:latin typeface="Calibri"/>
              </a:rPr>
              <a:t>Myopic:</a:t>
            </a:r>
            <a:r>
              <a:rPr sz="1600" b="0" i="0">
                <a:solidFill>
                  <a:srgbClr val="222222"/>
                </a:solidFill>
                <a:latin typeface="Calibri"/>
              </a:rPr>
              <a:t> top-K by true current utility</a:t>
            </a:r>
          </a:p>
          <a:p>
            <a:pPr>
              <a:spcBef>
                <a:spcPts val="500"/>
              </a:spcBef>
            </a:pPr>
            <a:r>
              <a:rPr sz="1600" b="1" i="0">
                <a:solidFill>
                  <a:srgbClr val="1F3A5F"/>
                </a:solidFill>
                <a:latin typeface="Calibri"/>
              </a:rPr>
              <a:t>Quality:</a:t>
            </a:r>
            <a:r>
              <a:rPr sz="1600" b="0" i="0">
                <a:solidFill>
                  <a:srgbClr val="222222"/>
                </a:solidFill>
                <a:latin typeface="Calibri"/>
              </a:rPr>
              <a:t> best predicted rating, never junk</a:t>
            </a:r>
          </a:p>
        </p:txBody>
      </p:sp>
      <p:sp>
        <p:nvSpPr>
          <p:cNvPr id="7" name="TextBox 6"/>
          <p:cNvSpPr txBox="1"/>
          <p:nvPr/>
        </p:nvSpPr>
        <p:spPr>
          <a:xfrm>
            <a:off x="548640" y="4343400"/>
            <a:ext cx="11094415" cy="1645920"/>
          </a:xfrm>
          <a:prstGeom prst="rect">
            <a:avLst/>
          </a:prstGeom>
          <a:noFill/>
        </p:spPr>
        <p:txBody>
          <a:bodyPr wrap="square">
            <a:spAutoFit/>
          </a:bodyPr>
          <a:lstStyle/>
          <a:p>
            <a:pPr>
              <a:spcAft>
                <a:spcPts val="800"/>
              </a:spcAft>
            </a:pPr>
            <a:r>
              <a:rPr sz="1200" b="0" i="0">
                <a:solidFill>
                  <a:srgbClr val="1F3A5F"/>
                </a:solidFill>
                <a:latin typeface="Calibri"/>
              </a:rPr>
              <a:t>■  </a:t>
            </a:r>
            <a:r>
              <a:rPr sz="1800" b="0" i="0">
                <a:solidFill>
                  <a:srgbClr val="222222"/>
                </a:solidFill>
                <a:latin typeface="Calibri"/>
              </a:rPr>
              <a:t>s = 0: myopic wins (Prop. 2). With s &gt; 0, quality wins on long-term clicks</a:t>
            </a:r>
          </a:p>
          <a:p>
            <a:pPr>
              <a:spcAft>
                <a:spcPts val="800"/>
              </a:spcAft>
            </a:pPr>
            <a:r>
              <a:rPr sz="1200" b="0" i="0">
                <a:solidFill>
                  <a:srgbClr val="1F3A5F"/>
                </a:solidFill>
                <a:latin typeface="Calibri"/>
              </a:rPr>
              <a:t>■  </a:t>
            </a:r>
            <a:r>
              <a:rPr sz="1800" b="0" i="0">
                <a:solidFill>
                  <a:srgbClr val="222222"/>
                </a:solidFill>
                <a:latin typeface="Calibri"/>
              </a:rPr>
              <a:t>Myopic always has the higher first-slate CTR, yet loses the session</a:t>
            </a:r>
          </a:p>
          <a:p>
            <a:pPr>
              <a:spcAft>
                <a:spcPts val="800"/>
              </a:spcAft>
            </a:pPr>
            <a:r>
              <a:rPr sz="1200" b="0" i="0">
                <a:solidFill>
                  <a:srgbClr val="1F3A5F"/>
                </a:solidFill>
                <a:latin typeface="Calibri"/>
              </a:rPr>
              <a:t>■  </a:t>
            </a:r>
            <a:r>
              <a:rPr sz="1800" b="0" i="0">
                <a:solidFill>
                  <a:srgbClr val="222222"/>
                </a:solidFill>
                <a:latin typeface="Calibri"/>
              </a:rPr>
              <a:t>Gap grows with slate size K, as the two-type toy model predicts (formulation.tex, Sec.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Agents compared (K = 1)</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10</a:t>
            </a:r>
          </a:p>
        </p:txBody>
      </p:sp>
      <p:graphicFrame>
        <p:nvGraphicFramePr>
          <p:cNvPr id="5" name="Table 4"/>
          <p:cNvGraphicFramePr>
            <a:graphicFrameLocks noGrp="1"/>
          </p:cNvGraphicFramePr>
          <p:nvPr/>
        </p:nvGraphicFramePr>
        <p:xfrm>
          <a:off x="548640" y="1325880"/>
          <a:ext cx="7315199" cy="3072384"/>
        </p:xfrm>
        <a:graphic>
          <a:graphicData uri="http://schemas.openxmlformats.org/drawingml/2006/table">
            <a:tbl>
              <a:tblPr firstRow="1" bandRow="1">
                <a:tableStyleId>{5C22544A-7EE6-4342-B048-85BDC9FD1C3A}</a:tableStyleId>
              </a:tblPr>
              <a:tblGrid>
                <a:gridCol w="2203373"/>
                <a:gridCol w="2820318"/>
                <a:gridCol w="2291508"/>
              </a:tblGrid>
              <a:tr h="438912">
                <a:tc>
                  <a:txBody>
                    <a:bodyPr wrap="square"/>
                    <a:lstStyle/>
                    <a:p>
                      <a:pPr algn="l"/>
                      <a:r>
                        <a:rPr sz="1400" b="1" i="0">
                          <a:solidFill>
                            <a:srgbClr val="FFFFFF"/>
                          </a:solidFill>
                          <a:latin typeface="Calibri"/>
                        </a:rPr>
                        <a:t>agent</a:t>
                      </a:r>
                    </a:p>
                  </a:txBody>
                  <a:tcPr marL="54864" marR="54864" marT="18288" marB="18288" anchor="ctr">
                    <a:solidFill>
                      <a:srgbClr val="1F3A5F"/>
                    </a:solidFill>
                  </a:tcPr>
                </a:tc>
                <a:tc>
                  <a:txBody>
                    <a:bodyPr wrap="square"/>
                    <a:lstStyle/>
                    <a:p>
                      <a:pPr algn="ctr"/>
                      <a:r>
                        <a:rPr sz="1400" b="1" i="0">
                          <a:solidFill>
                            <a:srgbClr val="FFFFFF"/>
                          </a:solidFill>
                          <a:latin typeface="Calibri"/>
                        </a:rPr>
                        <a:t>trained on / sees</a:t>
                      </a:r>
                    </a:p>
                  </a:txBody>
                  <a:tcPr marL="54864" marR="54864" marT="18288" marB="18288" anchor="ctr">
                    <a:solidFill>
                      <a:srgbClr val="1F3A5F"/>
                    </a:solidFill>
                  </a:tcPr>
                </a:tc>
                <a:tc>
                  <a:txBody>
                    <a:bodyPr wrap="square"/>
                    <a:lstStyle/>
                    <a:p>
                      <a:pPr algn="ctr"/>
                      <a:r>
                        <a:rPr sz="1400" b="1" i="0">
                          <a:solidFill>
                            <a:srgbClr val="FFFFFF"/>
                          </a:solidFill>
                          <a:latin typeface="Calibri"/>
                        </a:rPr>
                        <a:t>optimises</a:t>
                      </a:r>
                    </a:p>
                  </a:txBody>
                  <a:tcPr marL="54864" marR="54864" marT="18288" marB="18288" anchor="ctr">
                    <a:solidFill>
                      <a:srgbClr val="1F3A5F"/>
                    </a:solidFill>
                  </a:tcPr>
                </a:tc>
              </a:tr>
              <a:tr h="438912">
                <a:tc>
                  <a:txBody>
                    <a:bodyPr wrap="square"/>
                    <a:lstStyle/>
                    <a:p>
                      <a:pPr algn="l"/>
                      <a:r>
                        <a:rPr sz="1400" b="0" i="0">
                          <a:solidFill>
                            <a:srgbClr val="222222"/>
                          </a:solidFill>
                          <a:latin typeface="Calibri"/>
                        </a:rPr>
                        <a:t>Supervised (CE)</a:t>
                      </a:r>
                    </a:p>
                  </a:txBody>
                  <a:tcPr marL="54864" marR="54864" marT="18288" marB="18288" anchor="ctr">
                    <a:solidFill>
                      <a:srgbClr val="FFFFFF"/>
                    </a:solidFill>
                  </a:tcPr>
                </a:tc>
                <a:tc>
                  <a:txBody>
                    <a:bodyPr wrap="square"/>
                    <a:lstStyle/>
                    <a:p>
                      <a:pPr algn="ctr"/>
                      <a:r>
                        <a:rPr sz="1400" b="0" i="0">
                          <a:solidFill>
                            <a:srgbClr val="222222"/>
                          </a:solidFill>
                          <a:latin typeface="Calibri"/>
                        </a:rPr>
                        <a:t>MNL choice likelihood on logs</a:t>
                      </a:r>
                    </a:p>
                  </a:txBody>
                  <a:tcPr marL="54864" marR="54864" marT="18288" marB="18288" anchor="ctr">
                    <a:solidFill>
                      <a:srgbClr val="FFFFFF"/>
                    </a:solidFill>
                  </a:tcPr>
                </a:tc>
                <a:tc>
                  <a:txBody>
                    <a:bodyPr wrap="square"/>
                    <a:lstStyle/>
                    <a:p>
                      <a:pPr algn="ctr"/>
                      <a:r>
                        <a:rPr sz="1400" b="0" i="0">
                          <a:solidFill>
                            <a:srgbClr val="222222"/>
                          </a:solidFill>
                          <a:latin typeface="Calibri"/>
                        </a:rPr>
                        <a:t>next click (myopic, Lemma 1)</a:t>
                      </a:r>
                    </a:p>
                  </a:txBody>
                  <a:tcPr marL="54864" marR="54864" marT="18288" marB="18288" anchor="ctr">
                    <a:solidFill>
                      <a:srgbClr val="FFFFFF"/>
                    </a:solidFill>
                  </a:tcPr>
                </a:tc>
              </a:tr>
              <a:tr h="438912">
                <a:tc>
                  <a:txBody>
                    <a:bodyPr wrap="square"/>
                    <a:lstStyle/>
                    <a:p>
                      <a:pPr algn="l"/>
                      <a:r>
                        <a:rPr sz="1400" b="0" i="0">
                          <a:solidFill>
                            <a:srgbClr val="222222"/>
                          </a:solidFill>
                          <a:latin typeface="Calibri"/>
                        </a:rPr>
                        <a:t>SQN-style</a:t>
                      </a:r>
                    </a:p>
                  </a:txBody>
                  <a:tcPr marL="54864" marR="54864" marT="18288" marB="18288" anchor="ctr">
                    <a:solidFill>
                      <a:srgbClr val="EEF2F7"/>
                    </a:solidFill>
                  </a:tcPr>
                </a:tc>
                <a:tc>
                  <a:txBody>
                    <a:bodyPr wrap="square"/>
                    <a:lstStyle/>
                    <a:p>
                      <a:pPr algn="ctr"/>
                      <a:r>
                        <a:rPr sz="1400" b="0" i="0">
                          <a:solidFill>
                            <a:srgbClr val="222222"/>
                          </a:solidFill>
                          <a:latin typeface="Calibri"/>
                        </a:rPr>
                        <a:t>CE + TD Q-head (auxiliary)</a:t>
                      </a:r>
                    </a:p>
                  </a:txBody>
                  <a:tcPr marL="54864" marR="54864" marT="18288" marB="18288" anchor="ctr">
                    <a:solidFill>
                      <a:srgbClr val="EEF2F7"/>
                    </a:solidFill>
                  </a:tcPr>
                </a:tc>
                <a:tc>
                  <a:txBody>
                    <a:bodyPr wrap="square"/>
                    <a:lstStyle/>
                    <a:p>
                      <a:pPr algn="ctr"/>
                      <a:r>
                        <a:rPr sz="1400" b="0" i="0">
                          <a:solidFill>
                            <a:srgbClr val="222222"/>
                          </a:solidFill>
                          <a:latin typeface="Calibri"/>
                        </a:rPr>
                        <a:t>recommends from CE head</a:t>
                      </a:r>
                    </a:p>
                  </a:txBody>
                  <a:tcPr marL="54864" marR="54864" marT="18288" marB="18288" anchor="ctr">
                    <a:solidFill>
                      <a:srgbClr val="EEF2F7"/>
                    </a:solidFill>
                  </a:tcPr>
                </a:tc>
              </a:tr>
              <a:tr h="438912">
                <a:tc>
                  <a:txBody>
                    <a:bodyPr wrap="square"/>
                    <a:lstStyle/>
                    <a:p>
                      <a:pPr algn="l"/>
                      <a:r>
                        <a:rPr sz="1400" b="0" i="0">
                          <a:solidFill>
                            <a:srgbClr val="222222"/>
                          </a:solidFill>
                          <a:latin typeface="Calibri"/>
                        </a:rPr>
                        <a:t>Offline RL (CQL)</a:t>
                      </a:r>
                    </a:p>
                  </a:txBody>
                  <a:tcPr marL="54864" marR="54864" marT="18288" marB="18288" anchor="ctr">
                    <a:solidFill>
                      <a:srgbClr val="FFFFFF"/>
                    </a:solidFill>
                  </a:tcPr>
                </a:tc>
                <a:tc>
                  <a:txBody>
                    <a:bodyPr wrap="square"/>
                    <a:lstStyle/>
                    <a:p>
                      <a:pPr algn="ctr"/>
                      <a:r>
                        <a:rPr sz="1400" b="0" i="0">
                          <a:solidFill>
                            <a:srgbClr val="222222"/>
                          </a:solidFill>
                          <a:latin typeface="Calibri"/>
                        </a:rPr>
                        <a:t>logs, conservative penalty</a:t>
                      </a:r>
                    </a:p>
                  </a:txBody>
                  <a:tcPr marL="54864" marR="54864" marT="18288" marB="18288" anchor="ctr">
                    <a:solidFill>
                      <a:srgbClr val="FFFFFF"/>
                    </a:solidFill>
                  </a:tcPr>
                </a:tc>
                <a:tc>
                  <a:txBody>
                    <a:bodyPr wrap="square"/>
                    <a:lstStyle/>
                    <a:p>
                      <a:pPr algn="ctr"/>
                      <a:r>
                        <a:rPr sz="1400" b="0" i="0">
                          <a:solidFill>
                            <a:srgbClr val="222222"/>
                          </a:solidFill>
                          <a:latin typeface="Calibri"/>
                        </a:rPr>
                        <a:t>discounted clicks</a:t>
                      </a:r>
                    </a:p>
                  </a:txBody>
                  <a:tcPr marL="54864" marR="54864" marT="18288" marB="18288" anchor="ctr">
                    <a:solidFill>
                      <a:srgbClr val="FFFFFF"/>
                    </a:solidFill>
                  </a:tcPr>
                </a:tc>
              </a:tr>
              <a:tr h="438912">
                <a:tc>
                  <a:txBody>
                    <a:bodyPr wrap="square"/>
                    <a:lstStyle/>
                    <a:p>
                      <a:pPr algn="l"/>
                      <a:r>
                        <a:rPr sz="1400" b="0" i="0">
                          <a:solidFill>
                            <a:srgbClr val="222222"/>
                          </a:solidFill>
                          <a:latin typeface="Calibri"/>
                        </a:rPr>
                        <a:t>Offline RL (MNL-Q, ours)</a:t>
                      </a:r>
                    </a:p>
                  </a:txBody>
                  <a:tcPr marL="54864" marR="54864" marT="18288" marB="18288" anchor="ctr">
                    <a:solidFill>
                      <a:srgbClr val="EEF2F7"/>
                    </a:solidFill>
                  </a:tcPr>
                </a:tc>
                <a:tc>
                  <a:txBody>
                    <a:bodyPr wrap="square"/>
                    <a:lstStyle/>
                    <a:p>
                      <a:pPr algn="ctr"/>
                      <a:r>
                        <a:rPr sz="1400" b="0" i="0">
                          <a:solidFill>
                            <a:srgbClr val="222222"/>
                          </a:solidFill>
                          <a:latin typeface="Calibri"/>
                        </a:rPr>
                        <a:t>logs; p, Q_c, N heads by TD</a:t>
                      </a:r>
                    </a:p>
                  </a:txBody>
                  <a:tcPr marL="54864" marR="54864" marT="18288" marB="18288" anchor="ctr">
                    <a:solidFill>
                      <a:srgbClr val="EEF2F7"/>
                    </a:solidFill>
                  </a:tcPr>
                </a:tc>
                <a:tc>
                  <a:txBody>
                    <a:bodyPr wrap="square"/>
                    <a:lstStyle/>
                    <a:p>
                      <a:pPr algn="ctr"/>
                      <a:r>
                        <a:rPr sz="1400" b="0" i="0">
                          <a:solidFill>
                            <a:srgbClr val="222222"/>
                          </a:solidFill>
                          <a:latin typeface="Calibri"/>
                        </a:rPr>
                        <a:t>discounted clicks</a:t>
                      </a:r>
                    </a:p>
                  </a:txBody>
                  <a:tcPr marL="54864" marR="54864" marT="18288" marB="18288" anchor="ctr">
                    <a:solidFill>
                      <a:srgbClr val="EEF2F7"/>
                    </a:solidFill>
                  </a:tcPr>
                </a:tc>
              </a:tr>
              <a:tr h="438912">
                <a:tc>
                  <a:txBody>
                    <a:bodyPr wrap="square"/>
                    <a:lstStyle/>
                    <a:p>
                      <a:pPr algn="l"/>
                      <a:r>
                        <a:rPr sz="1400" b="0" i="0">
                          <a:solidFill>
                            <a:srgbClr val="222222"/>
                          </a:solidFill>
                          <a:latin typeface="Calibri"/>
                        </a:rPr>
                        <a:t>Online RL (DQN)</a:t>
                      </a:r>
                    </a:p>
                  </a:txBody>
                  <a:tcPr marL="54864" marR="54864" marT="18288" marB="18288" anchor="ctr">
                    <a:solidFill>
                      <a:srgbClr val="FFFFFF"/>
                    </a:solidFill>
                  </a:tcPr>
                </a:tc>
                <a:tc>
                  <a:txBody>
                    <a:bodyPr wrap="square"/>
                    <a:lstStyle/>
                    <a:p>
                      <a:pPr algn="ctr"/>
                      <a:r>
                        <a:rPr sz="1400" b="0" i="0">
                          <a:solidFill>
                            <a:srgbClr val="222222"/>
                          </a:solidFill>
                          <a:latin typeface="Calibri"/>
                        </a:rPr>
                        <a:t>interacts with simulator; top-20 of CE</a:t>
                      </a:r>
                    </a:p>
                  </a:txBody>
                  <a:tcPr marL="54864" marR="54864" marT="18288" marB="18288" anchor="ctr">
                    <a:solidFill>
                      <a:srgbClr val="FFFFFF"/>
                    </a:solidFill>
                  </a:tcPr>
                </a:tc>
                <a:tc>
                  <a:txBody>
                    <a:bodyPr wrap="square"/>
                    <a:lstStyle/>
                    <a:p>
                      <a:pPr algn="ctr"/>
                      <a:r>
                        <a:rPr sz="1400" b="0" i="0">
                          <a:solidFill>
                            <a:srgbClr val="222222"/>
                          </a:solidFill>
                          <a:latin typeface="Calibri"/>
                        </a:rPr>
                        <a:t>discounted clicks</a:t>
                      </a:r>
                    </a:p>
                  </a:txBody>
                  <a:tcPr marL="54864" marR="54864" marT="18288" marB="18288" anchor="ctr">
                    <a:solidFill>
                      <a:srgbClr val="FFFFFF"/>
                    </a:solidFill>
                  </a:tcPr>
                </a:tc>
              </a:tr>
              <a:tr h="438912">
                <a:tc>
                  <a:txBody>
                    <a:bodyPr wrap="square"/>
                    <a:lstStyle/>
                    <a:p>
                      <a:pPr algn="l"/>
                      <a:r>
                        <a:rPr sz="1400" b="0" i="0">
                          <a:solidFill>
                            <a:srgbClr val="222222"/>
                          </a:solidFill>
                          <a:latin typeface="Calibri"/>
                        </a:rPr>
                        <a:t>Est.-rating heuristic</a:t>
                      </a:r>
                    </a:p>
                  </a:txBody>
                  <a:tcPr marL="54864" marR="54864" marT="18288" marB="18288" anchor="ctr">
                    <a:solidFill>
                      <a:srgbClr val="EEF2F7"/>
                    </a:solidFill>
                  </a:tcPr>
                </a:tc>
                <a:tc>
                  <a:txBody>
                    <a:bodyPr wrap="square"/>
                    <a:lstStyle/>
                    <a:p>
                      <a:pPr algn="ctr"/>
                      <a:r>
                        <a:rPr sz="1400" b="0" i="0">
                          <a:solidFill>
                            <a:srgbClr val="222222"/>
                          </a:solidFill>
                          <a:latin typeface="Calibri"/>
                        </a:rPr>
                        <a:t>history rating model only</a:t>
                      </a:r>
                    </a:p>
                  </a:txBody>
                  <a:tcPr marL="54864" marR="54864" marT="18288" marB="18288" anchor="ctr">
                    <a:solidFill>
                      <a:srgbClr val="EEF2F7"/>
                    </a:solidFill>
                  </a:tcPr>
                </a:tc>
                <a:tc>
                  <a:txBody>
                    <a:bodyPr wrap="square"/>
                    <a:lstStyle/>
                    <a:p>
                      <a:pPr algn="ctr"/>
                      <a:r>
                        <a:rPr sz="1400" b="0" i="0">
                          <a:solidFill>
                            <a:srgbClr val="222222"/>
                          </a:solidFill>
                          <a:latin typeface="Calibri"/>
                        </a:rPr>
                        <a:t>not learned</a:t>
                      </a:r>
                    </a:p>
                  </a:txBody>
                  <a:tcPr marL="54864" marR="54864" marT="18288" marB="18288" anchor="ctr">
                    <a:solidFill>
                      <a:srgbClr val="EEF2F7"/>
                    </a:solidFill>
                  </a:tcPr>
                </a:tc>
              </a:tr>
            </a:tbl>
          </a:graphicData>
        </a:graphic>
      </p:graphicFrame>
      <p:sp>
        <p:nvSpPr>
          <p:cNvPr id="6" name="Rounded Rectangle 5"/>
          <p:cNvSpPr/>
          <p:nvPr/>
        </p:nvSpPr>
        <p:spPr>
          <a:xfrm>
            <a:off x="8183879" y="1325880"/>
            <a:ext cx="3429000" cy="219456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600" b="1" i="0">
                <a:solidFill>
                  <a:srgbClr val="1F3A5F"/>
                </a:solidFill>
                <a:latin typeface="Calibri"/>
              </a:rPr>
              <a:t>MNL-Q (ours, K = 1)</a:t>
            </a:r>
          </a:p>
          <a:p>
            <a:pPr>
              <a:spcBef>
                <a:spcPts val="500"/>
              </a:spcBef>
            </a:pPr>
            <a:r>
              <a:rPr sz="1500" b="0" i="0">
                <a:solidFill>
                  <a:srgbClr val="222222"/>
                </a:solidFill>
                <a:latin typeface="Calibri"/>
              </a:rPr>
              <a:t>Q(s,a) = p(a|s)·Q_c(s,a) + (1 − p(a|s))·N(s)</a:t>
            </a:r>
          </a:p>
          <a:p>
            <a:pPr>
              <a:spcBef>
                <a:spcPts val="500"/>
              </a:spcBef>
            </a:pPr>
            <a:r>
              <a:rPr sz="1500" b="0" i="0">
                <a:solidFill>
                  <a:srgbClr val="222222"/>
                </a:solidFill>
                <a:latin typeface="Calibri"/>
              </a:rPr>
              <a:t>p: click prob.; Q_c: return after click; N: after no click</a:t>
            </a:r>
          </a:p>
        </p:txBody>
      </p:sp>
      <p:sp>
        <p:nvSpPr>
          <p:cNvPr id="7" name="Rounded Rectangle 6"/>
          <p:cNvSpPr/>
          <p:nvPr/>
        </p:nvSpPr>
        <p:spPr>
          <a:xfrm>
            <a:off x="8183879" y="3749040"/>
            <a:ext cx="3429000" cy="182880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600" b="1" i="0">
                <a:solidFill>
                  <a:srgbClr val="1F3A5F"/>
                </a:solidFill>
                <a:latin typeface="Calibri"/>
              </a:rPr>
              <a:t>What agents see</a:t>
            </a:r>
          </a:p>
          <a:p>
            <a:pPr>
              <a:spcBef>
                <a:spcPts val="500"/>
              </a:spcBef>
            </a:pPr>
            <a:r>
              <a:rPr sz="1500" b="0" i="0">
                <a:solidFill>
                  <a:srgbClr val="222222"/>
                </a:solidFill>
                <a:latin typeface="Calibri"/>
              </a:rPr>
              <a:t>user id, last 10 clicks, step, history-model factors. </a:t>
            </a:r>
            <a:r>
              <a:rPr sz="1500" b="1" i="0">
                <a:solidFill>
                  <a:srgbClr val="1F3A5F"/>
                </a:solidFill>
                <a:latin typeface="Calibri"/>
              </a:rPr>
              <a:t>Never</a:t>
            </a:r>
            <a:r>
              <a:rPr sz="1500" b="0" i="0">
                <a:solidFill>
                  <a:srgbClr val="222222"/>
                </a:solidFill>
                <a:latin typeface="Calibri"/>
              </a:rPr>
              <a:t> satisfaction or junk flag</a:t>
            </a:r>
          </a:p>
        </p:txBody>
      </p:sp>
      <p:sp>
        <p:nvSpPr>
          <p:cNvPr id="8" name="TextBox 7"/>
          <p:cNvSpPr txBox="1"/>
          <p:nvPr/>
        </p:nvSpPr>
        <p:spPr>
          <a:xfrm>
            <a:off x="548640" y="4663440"/>
            <a:ext cx="7315200" cy="914400"/>
          </a:xfrm>
          <a:prstGeom prst="rect">
            <a:avLst/>
          </a:prstGeom>
          <a:noFill/>
        </p:spPr>
        <p:txBody>
          <a:bodyPr wrap="square" anchor="t" lIns="45720" rIns="45720">
            <a:spAutoFit/>
          </a:bodyPr>
          <a:lstStyle/>
          <a:p>
            <a:pPr algn="l"/>
            <a:r>
              <a:rPr sz="1500" b="0" i="0">
                <a:solidFill>
                  <a:srgbClr val="666666"/>
                </a:solidFill>
                <a:latin typeface="Calibri"/>
              </a:rPr>
              <a:t>Logs: 2 sessions per training user (popularity policy, 30% random). Eval: held-out 20% of users, 3 seeds.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Main result: clicks per session vs strength s</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11</a:t>
            </a:r>
          </a:p>
        </p:txBody>
      </p:sp>
      <p:graphicFrame>
        <p:nvGraphicFramePr>
          <p:cNvPr id="5" name="Table 4"/>
          <p:cNvGraphicFramePr>
            <a:graphicFrameLocks noGrp="1"/>
          </p:cNvGraphicFramePr>
          <p:nvPr/>
        </p:nvGraphicFramePr>
        <p:xfrm>
          <a:off x="548640" y="1280160"/>
          <a:ext cx="6675119" cy="3657600"/>
        </p:xfrm>
        <a:graphic>
          <a:graphicData uri="http://schemas.openxmlformats.org/drawingml/2006/table">
            <a:tbl>
              <a:tblPr firstRow="1" bandRow="1">
                <a:tableStyleId>{5C22544A-7EE6-4342-B048-85BDC9FD1C3A}</a:tableStyleId>
              </a:tblPr>
              <a:tblGrid>
                <a:gridCol w="2164903"/>
                <a:gridCol w="1127554"/>
                <a:gridCol w="1127554"/>
                <a:gridCol w="1127554"/>
                <a:gridCol w="1127554"/>
              </a:tblGrid>
              <a:tr h="365760">
                <a:tc>
                  <a:txBody>
                    <a:bodyPr wrap="square"/>
                    <a:lstStyle/>
                    <a:p>
                      <a:pPr algn="l"/>
                      <a:r>
                        <a:rPr sz="1200" b="1" i="0">
                          <a:solidFill>
                            <a:srgbClr val="FFFFFF"/>
                          </a:solidFill>
                          <a:latin typeface="Calibri"/>
                        </a:rPr>
                        <a:t>agent</a:t>
                      </a:r>
                    </a:p>
                  </a:txBody>
                  <a:tcPr marL="54864" marR="54864" marT="18288" marB="18288" anchor="ctr">
                    <a:solidFill>
                      <a:srgbClr val="1F3A5F"/>
                    </a:solidFill>
                  </a:tcPr>
                </a:tc>
                <a:tc>
                  <a:txBody>
                    <a:bodyPr wrap="square"/>
                    <a:lstStyle/>
                    <a:p>
                      <a:pPr algn="ctr"/>
                      <a:r>
                        <a:rPr sz="1200" b="1" i="0">
                          <a:solidFill>
                            <a:srgbClr val="FFFFFF"/>
                          </a:solidFill>
                          <a:latin typeface="Calibri"/>
                        </a:rPr>
                        <a:t>s = 0.0</a:t>
                      </a:r>
                    </a:p>
                  </a:txBody>
                  <a:tcPr marL="54864" marR="54864" marT="18288" marB="18288" anchor="ctr">
                    <a:solidFill>
                      <a:srgbClr val="1F3A5F"/>
                    </a:solidFill>
                  </a:tcPr>
                </a:tc>
                <a:tc>
                  <a:txBody>
                    <a:bodyPr wrap="square"/>
                    <a:lstStyle/>
                    <a:p>
                      <a:pPr algn="ctr"/>
                      <a:r>
                        <a:rPr sz="1200" b="1" i="0">
                          <a:solidFill>
                            <a:srgbClr val="FFFFFF"/>
                          </a:solidFill>
                          <a:latin typeface="Calibri"/>
                        </a:rPr>
                        <a:t>s = 0.25</a:t>
                      </a:r>
                    </a:p>
                  </a:txBody>
                  <a:tcPr marL="54864" marR="54864" marT="18288" marB="18288" anchor="ctr">
                    <a:solidFill>
                      <a:srgbClr val="1F3A5F"/>
                    </a:solidFill>
                  </a:tcPr>
                </a:tc>
                <a:tc>
                  <a:txBody>
                    <a:bodyPr wrap="square"/>
                    <a:lstStyle/>
                    <a:p>
                      <a:pPr algn="ctr"/>
                      <a:r>
                        <a:rPr sz="1200" b="1" i="0">
                          <a:solidFill>
                            <a:srgbClr val="FFFFFF"/>
                          </a:solidFill>
                          <a:latin typeface="Calibri"/>
                        </a:rPr>
                        <a:t>s = 0.5</a:t>
                      </a:r>
                    </a:p>
                  </a:txBody>
                  <a:tcPr marL="54864" marR="54864" marT="18288" marB="18288" anchor="ctr">
                    <a:solidFill>
                      <a:srgbClr val="1F3A5F"/>
                    </a:solidFill>
                  </a:tcPr>
                </a:tc>
                <a:tc>
                  <a:txBody>
                    <a:bodyPr wrap="square"/>
                    <a:lstStyle/>
                    <a:p>
                      <a:pPr algn="ctr"/>
                      <a:r>
                        <a:rPr sz="1200" b="1" i="0">
                          <a:solidFill>
                            <a:srgbClr val="FFFFFF"/>
                          </a:solidFill>
                          <a:latin typeface="Calibri"/>
                        </a:rPr>
                        <a:t>s = 1.0</a:t>
                      </a:r>
                    </a:p>
                  </a:txBody>
                  <a:tcPr marL="54864" marR="54864" marT="18288" marB="18288" anchor="ctr">
                    <a:solidFill>
                      <a:srgbClr val="1F3A5F"/>
                    </a:solidFill>
                  </a:tcPr>
                </a:tc>
              </a:tr>
              <a:tr h="365760">
                <a:tc>
                  <a:txBody>
                    <a:bodyPr wrap="square"/>
                    <a:lstStyle/>
                    <a:p>
                      <a:pPr algn="l"/>
                      <a:r>
                        <a:rPr sz="1200" b="0" i="0">
                          <a:solidFill>
                            <a:srgbClr val="222222"/>
                          </a:solidFill>
                          <a:latin typeface="Calibri"/>
                        </a:rPr>
                        <a:t>Popularity</a:t>
                      </a:r>
                    </a:p>
                  </a:txBody>
                  <a:tcPr marL="54864" marR="54864" marT="18288" marB="18288" anchor="ctr">
                    <a:solidFill>
                      <a:srgbClr val="FFFFFF"/>
                    </a:solidFill>
                  </a:tcPr>
                </a:tc>
                <a:tc>
                  <a:txBody>
                    <a:bodyPr wrap="square"/>
                    <a:lstStyle/>
                    <a:p>
                      <a:pPr algn="ctr"/>
                      <a:r>
                        <a:rPr sz="1200" b="0" i="0">
                          <a:solidFill>
                            <a:srgbClr val="222222"/>
                          </a:solidFill>
                          <a:latin typeface="Calibri"/>
                        </a:rPr>
                        <a:t>3.05 ± 0.04</a:t>
                      </a:r>
                    </a:p>
                  </a:txBody>
                  <a:tcPr marL="54864" marR="54864" marT="18288" marB="18288" anchor="ctr">
                    <a:solidFill>
                      <a:srgbClr val="FFFFFF"/>
                    </a:solidFill>
                  </a:tcPr>
                </a:tc>
                <a:tc>
                  <a:txBody>
                    <a:bodyPr wrap="square"/>
                    <a:lstStyle/>
                    <a:p>
                      <a:pPr algn="ctr"/>
                      <a:r>
                        <a:rPr sz="1200" b="0" i="0">
                          <a:solidFill>
                            <a:srgbClr val="222222"/>
                          </a:solidFill>
                          <a:latin typeface="Calibri"/>
                        </a:rPr>
                        <a:t>2.08 ± 0.01</a:t>
                      </a:r>
                    </a:p>
                  </a:txBody>
                  <a:tcPr marL="54864" marR="54864" marT="18288" marB="18288" anchor="ctr">
                    <a:solidFill>
                      <a:srgbClr val="FFFFFF"/>
                    </a:solidFill>
                  </a:tcPr>
                </a:tc>
                <a:tc>
                  <a:txBody>
                    <a:bodyPr wrap="square"/>
                    <a:lstStyle/>
                    <a:p>
                      <a:pPr algn="ctr"/>
                      <a:r>
                        <a:rPr sz="1200" b="0" i="0">
                          <a:solidFill>
                            <a:srgbClr val="222222"/>
                          </a:solidFill>
                          <a:latin typeface="Calibri"/>
                        </a:rPr>
                        <a:t>1.61 ± 0.01</a:t>
                      </a:r>
                    </a:p>
                  </a:txBody>
                  <a:tcPr marL="54864" marR="54864" marT="18288" marB="18288" anchor="ctr">
                    <a:solidFill>
                      <a:srgbClr val="FFFFFF"/>
                    </a:solidFill>
                  </a:tcPr>
                </a:tc>
                <a:tc>
                  <a:txBody>
                    <a:bodyPr wrap="square"/>
                    <a:lstStyle/>
                    <a:p>
                      <a:pPr algn="ctr"/>
                      <a:r>
                        <a:rPr sz="1200" b="0" i="0">
                          <a:solidFill>
                            <a:srgbClr val="222222"/>
                          </a:solidFill>
                          <a:latin typeface="Calibri"/>
                        </a:rPr>
                        <a:t>1.18 ± 0.01</a:t>
                      </a:r>
                    </a:p>
                  </a:txBody>
                  <a:tcPr marL="54864" marR="54864" marT="18288" marB="18288" anchor="ctr">
                    <a:solidFill>
                      <a:srgbClr val="FFFFFF"/>
                    </a:solidFill>
                  </a:tcPr>
                </a:tc>
              </a:tr>
              <a:tr h="365760">
                <a:tc>
                  <a:txBody>
                    <a:bodyPr wrap="square"/>
                    <a:lstStyle/>
                    <a:p>
                      <a:pPr algn="l"/>
                      <a:r>
                        <a:rPr sz="1200" b="0" i="0">
                          <a:solidFill>
                            <a:srgbClr val="222222"/>
                          </a:solidFill>
                          <a:latin typeface="Calibri"/>
                        </a:rPr>
                        <a:t>Est.-rating heuristic</a:t>
                      </a:r>
                    </a:p>
                  </a:txBody>
                  <a:tcPr marL="54864" marR="54864" marT="18288" marB="18288" anchor="ctr">
                    <a:solidFill>
                      <a:srgbClr val="EEF2F7"/>
                    </a:solidFill>
                  </a:tcPr>
                </a:tc>
                <a:tc>
                  <a:txBody>
                    <a:bodyPr wrap="square"/>
                    <a:lstStyle/>
                    <a:p>
                      <a:pPr algn="ctr"/>
                      <a:r>
                        <a:rPr sz="1200" b="0" i="0">
                          <a:solidFill>
                            <a:srgbClr val="222222"/>
                          </a:solidFill>
                          <a:latin typeface="Calibri"/>
                        </a:rPr>
                        <a:t>4.25 ± 0.05</a:t>
                      </a:r>
                    </a:p>
                  </a:txBody>
                  <a:tcPr marL="54864" marR="54864" marT="18288" marB="18288" anchor="ctr">
                    <a:solidFill>
                      <a:srgbClr val="EEF2F7"/>
                    </a:solidFill>
                  </a:tcPr>
                </a:tc>
                <a:tc>
                  <a:txBody>
                    <a:bodyPr wrap="square"/>
                    <a:lstStyle/>
                    <a:p>
                      <a:pPr algn="ctr"/>
                      <a:r>
                        <a:rPr sz="1200" b="0" i="0">
                          <a:solidFill>
                            <a:srgbClr val="222222"/>
                          </a:solidFill>
                          <a:latin typeface="Calibri"/>
                        </a:rPr>
                        <a:t>2.79 ± 0.02</a:t>
                      </a:r>
                    </a:p>
                  </a:txBody>
                  <a:tcPr marL="54864" marR="54864" marT="18288" marB="18288" anchor="ctr">
                    <a:solidFill>
                      <a:srgbClr val="EEF2F7"/>
                    </a:solidFill>
                  </a:tcPr>
                </a:tc>
                <a:tc>
                  <a:txBody>
                    <a:bodyPr wrap="square"/>
                    <a:lstStyle/>
                    <a:p>
                      <a:pPr algn="ctr"/>
                      <a:r>
                        <a:rPr sz="1200" b="0" i="0">
                          <a:solidFill>
                            <a:srgbClr val="222222"/>
                          </a:solidFill>
                          <a:latin typeface="Calibri"/>
                        </a:rPr>
                        <a:t>2.20 ± 0.01</a:t>
                      </a:r>
                    </a:p>
                  </a:txBody>
                  <a:tcPr marL="54864" marR="54864" marT="18288" marB="18288" anchor="ctr">
                    <a:solidFill>
                      <a:srgbClr val="EEF2F7"/>
                    </a:solidFill>
                  </a:tcPr>
                </a:tc>
                <a:tc>
                  <a:txBody>
                    <a:bodyPr wrap="square"/>
                    <a:lstStyle/>
                    <a:p>
                      <a:pPr algn="ctr"/>
                      <a:r>
                        <a:rPr sz="1200" b="0" i="0">
                          <a:solidFill>
                            <a:srgbClr val="222222"/>
                          </a:solidFill>
                          <a:latin typeface="Calibri"/>
                        </a:rPr>
                        <a:t>1.62 ± 0.02</a:t>
                      </a:r>
                    </a:p>
                  </a:txBody>
                  <a:tcPr marL="54864" marR="54864" marT="18288" marB="18288" anchor="ctr">
                    <a:solidFill>
                      <a:srgbClr val="EEF2F7"/>
                    </a:solidFill>
                  </a:tcPr>
                </a:tc>
              </a:tr>
              <a:tr h="365760">
                <a:tc>
                  <a:txBody>
                    <a:bodyPr wrap="square"/>
                    <a:lstStyle/>
                    <a:p>
                      <a:pPr algn="l"/>
                      <a:r>
                        <a:rPr sz="1200" b="1" i="0">
                          <a:solidFill>
                            <a:srgbClr val="222222"/>
                          </a:solidFill>
                          <a:latin typeface="Calibri"/>
                        </a:rPr>
                        <a:t>Supervised (CE)</a:t>
                      </a:r>
                    </a:p>
                  </a:txBody>
                  <a:tcPr marL="54864" marR="54864" marT="18288" marB="18288" anchor="ctr">
                    <a:solidFill>
                      <a:srgbClr val="FFFFFF"/>
                    </a:solidFill>
                  </a:tcPr>
                </a:tc>
                <a:tc>
                  <a:txBody>
                    <a:bodyPr wrap="square"/>
                    <a:lstStyle/>
                    <a:p>
                      <a:pPr algn="ctr"/>
                      <a:r>
                        <a:rPr sz="1200" b="1" i="0">
                          <a:solidFill>
                            <a:srgbClr val="222222"/>
                          </a:solidFill>
                          <a:latin typeface="Calibri"/>
                        </a:rPr>
                        <a:t>4.06 ± 0.01</a:t>
                      </a:r>
                    </a:p>
                  </a:txBody>
                  <a:tcPr marL="54864" marR="54864" marT="18288" marB="18288" anchor="ctr">
                    <a:solidFill>
                      <a:srgbClr val="FFFFFF"/>
                    </a:solidFill>
                  </a:tcPr>
                </a:tc>
                <a:tc>
                  <a:txBody>
                    <a:bodyPr wrap="square"/>
                    <a:lstStyle/>
                    <a:p>
                      <a:pPr algn="ctr"/>
                      <a:r>
                        <a:rPr sz="1200" b="1" i="0">
                          <a:solidFill>
                            <a:srgbClr val="222222"/>
                          </a:solidFill>
                          <a:latin typeface="Calibri"/>
                        </a:rPr>
                        <a:t>2.47 ± 0.02</a:t>
                      </a:r>
                    </a:p>
                  </a:txBody>
                  <a:tcPr marL="54864" marR="54864" marT="18288" marB="18288" anchor="ctr">
                    <a:solidFill>
                      <a:srgbClr val="FFFFFF"/>
                    </a:solidFill>
                  </a:tcPr>
                </a:tc>
                <a:tc>
                  <a:txBody>
                    <a:bodyPr wrap="square"/>
                    <a:lstStyle/>
                    <a:p>
                      <a:pPr algn="ctr"/>
                      <a:r>
                        <a:rPr sz="1200" b="1" i="0">
                          <a:solidFill>
                            <a:srgbClr val="222222"/>
                          </a:solidFill>
                          <a:latin typeface="Calibri"/>
                        </a:rPr>
                        <a:t>1.76 ± 0.02</a:t>
                      </a:r>
                    </a:p>
                  </a:txBody>
                  <a:tcPr marL="54864" marR="54864" marT="18288" marB="18288" anchor="ctr">
                    <a:solidFill>
                      <a:srgbClr val="FFFFFF"/>
                    </a:solidFill>
                  </a:tcPr>
                </a:tc>
                <a:tc>
                  <a:txBody>
                    <a:bodyPr wrap="square"/>
                    <a:lstStyle/>
                    <a:p>
                      <a:pPr algn="ctr"/>
                      <a:r>
                        <a:rPr sz="1200" b="1" i="0">
                          <a:solidFill>
                            <a:srgbClr val="222222"/>
                          </a:solidFill>
                          <a:latin typeface="Calibri"/>
                        </a:rPr>
                        <a:t>1.18 ± 0.05</a:t>
                      </a:r>
                    </a:p>
                  </a:txBody>
                  <a:tcPr marL="54864" marR="54864" marT="18288" marB="18288" anchor="ctr">
                    <a:solidFill>
                      <a:srgbClr val="FFFFFF"/>
                    </a:solidFill>
                  </a:tcPr>
                </a:tc>
              </a:tr>
              <a:tr h="365760">
                <a:tc>
                  <a:txBody>
                    <a:bodyPr wrap="square"/>
                    <a:lstStyle/>
                    <a:p>
                      <a:pPr algn="l"/>
                      <a:r>
                        <a:rPr sz="1200" b="0" i="0">
                          <a:solidFill>
                            <a:srgbClr val="222222"/>
                          </a:solidFill>
                          <a:latin typeface="Calibri"/>
                        </a:rPr>
                        <a:t>SQN-style (CE+TD)</a:t>
                      </a:r>
                    </a:p>
                  </a:txBody>
                  <a:tcPr marL="54864" marR="54864" marT="18288" marB="18288" anchor="ctr">
                    <a:solidFill>
                      <a:srgbClr val="EEF2F7"/>
                    </a:solidFill>
                  </a:tcPr>
                </a:tc>
                <a:tc>
                  <a:txBody>
                    <a:bodyPr wrap="square"/>
                    <a:lstStyle/>
                    <a:p>
                      <a:pPr algn="ctr"/>
                      <a:r>
                        <a:rPr sz="1200" b="0" i="0">
                          <a:solidFill>
                            <a:srgbClr val="222222"/>
                          </a:solidFill>
                          <a:latin typeface="Calibri"/>
                        </a:rPr>
                        <a:t>3.85 ± 0.03</a:t>
                      </a:r>
                    </a:p>
                  </a:txBody>
                  <a:tcPr marL="54864" marR="54864" marT="18288" marB="18288" anchor="ctr">
                    <a:solidFill>
                      <a:srgbClr val="EEF2F7"/>
                    </a:solidFill>
                  </a:tcPr>
                </a:tc>
                <a:tc>
                  <a:txBody>
                    <a:bodyPr wrap="square"/>
                    <a:lstStyle/>
                    <a:p>
                      <a:pPr algn="ctr"/>
                      <a:r>
                        <a:rPr sz="1200" b="0" i="0">
                          <a:solidFill>
                            <a:srgbClr val="222222"/>
                          </a:solidFill>
                          <a:latin typeface="Calibri"/>
                        </a:rPr>
                        <a:t>2.40 ± 0.02</a:t>
                      </a:r>
                    </a:p>
                  </a:txBody>
                  <a:tcPr marL="54864" marR="54864" marT="18288" marB="18288" anchor="ctr">
                    <a:solidFill>
                      <a:srgbClr val="EEF2F7"/>
                    </a:solidFill>
                  </a:tcPr>
                </a:tc>
                <a:tc>
                  <a:txBody>
                    <a:bodyPr wrap="square"/>
                    <a:lstStyle/>
                    <a:p>
                      <a:pPr algn="ctr"/>
                      <a:r>
                        <a:rPr sz="1200" b="0" i="0">
                          <a:solidFill>
                            <a:srgbClr val="222222"/>
                          </a:solidFill>
                          <a:latin typeface="Calibri"/>
                        </a:rPr>
                        <a:t>1.75 ± 0.03</a:t>
                      </a:r>
                    </a:p>
                  </a:txBody>
                  <a:tcPr marL="54864" marR="54864" marT="18288" marB="18288" anchor="ctr">
                    <a:solidFill>
                      <a:srgbClr val="EEF2F7"/>
                    </a:solidFill>
                  </a:tcPr>
                </a:tc>
                <a:tc>
                  <a:txBody>
                    <a:bodyPr wrap="square"/>
                    <a:lstStyle/>
                    <a:p>
                      <a:pPr algn="ctr"/>
                      <a:r>
                        <a:rPr sz="1200" b="0" i="0">
                          <a:solidFill>
                            <a:srgbClr val="222222"/>
                          </a:solidFill>
                          <a:latin typeface="Calibri"/>
                        </a:rPr>
                        <a:t>1.20 ± 0.03</a:t>
                      </a:r>
                    </a:p>
                  </a:txBody>
                  <a:tcPr marL="54864" marR="54864" marT="18288" marB="18288" anchor="ctr">
                    <a:solidFill>
                      <a:srgbClr val="EEF2F7"/>
                    </a:solidFill>
                  </a:tcPr>
                </a:tc>
              </a:tr>
              <a:tr h="365760">
                <a:tc>
                  <a:txBody>
                    <a:bodyPr wrap="square"/>
                    <a:lstStyle/>
                    <a:p>
                      <a:pPr algn="l"/>
                      <a:r>
                        <a:rPr sz="1200" b="0" i="0">
                          <a:solidFill>
                            <a:srgbClr val="222222"/>
                          </a:solidFill>
                          <a:latin typeface="Calibri"/>
                        </a:rPr>
                        <a:t>Offline RL (CQL)</a:t>
                      </a:r>
                    </a:p>
                  </a:txBody>
                  <a:tcPr marL="54864" marR="54864" marT="18288" marB="18288" anchor="ctr">
                    <a:solidFill>
                      <a:srgbClr val="FFFFFF"/>
                    </a:solidFill>
                  </a:tcPr>
                </a:tc>
                <a:tc>
                  <a:txBody>
                    <a:bodyPr wrap="square"/>
                    <a:lstStyle/>
                    <a:p>
                      <a:pPr algn="ctr"/>
                      <a:r>
                        <a:rPr sz="1200" b="0" i="0">
                          <a:solidFill>
                            <a:srgbClr val="222222"/>
                          </a:solidFill>
                          <a:latin typeface="Calibri"/>
                        </a:rPr>
                        <a:t>3.44 ± 0.03</a:t>
                      </a:r>
                    </a:p>
                  </a:txBody>
                  <a:tcPr marL="54864" marR="54864" marT="18288" marB="18288" anchor="ctr">
                    <a:solidFill>
                      <a:srgbClr val="FFFFFF"/>
                    </a:solidFill>
                  </a:tcPr>
                </a:tc>
                <a:tc>
                  <a:txBody>
                    <a:bodyPr wrap="square"/>
                    <a:lstStyle/>
                    <a:p>
                      <a:pPr algn="ctr"/>
                      <a:r>
                        <a:rPr sz="1200" b="0" i="0">
                          <a:solidFill>
                            <a:srgbClr val="222222"/>
                          </a:solidFill>
                          <a:latin typeface="Calibri"/>
                        </a:rPr>
                        <a:t>2.22 ± 0.03</a:t>
                      </a:r>
                    </a:p>
                  </a:txBody>
                  <a:tcPr marL="54864" marR="54864" marT="18288" marB="18288" anchor="ctr">
                    <a:solidFill>
                      <a:srgbClr val="FFFFFF"/>
                    </a:solidFill>
                  </a:tcPr>
                </a:tc>
                <a:tc>
                  <a:txBody>
                    <a:bodyPr wrap="square"/>
                    <a:lstStyle/>
                    <a:p>
                      <a:pPr algn="ctr"/>
                      <a:r>
                        <a:rPr sz="1200" b="0" i="0">
                          <a:solidFill>
                            <a:srgbClr val="222222"/>
                          </a:solidFill>
                          <a:latin typeface="Calibri"/>
                        </a:rPr>
                        <a:t>1.71 ± 0.01</a:t>
                      </a:r>
                    </a:p>
                  </a:txBody>
                  <a:tcPr marL="54864" marR="54864" marT="18288" marB="18288" anchor="ctr">
                    <a:solidFill>
                      <a:srgbClr val="FFFFFF"/>
                    </a:solidFill>
                  </a:tcPr>
                </a:tc>
                <a:tc>
                  <a:txBody>
                    <a:bodyPr wrap="square"/>
                    <a:lstStyle/>
                    <a:p>
                      <a:pPr algn="ctr"/>
                      <a:r>
                        <a:rPr sz="1200" b="0" i="0">
                          <a:solidFill>
                            <a:srgbClr val="222222"/>
                          </a:solidFill>
                          <a:latin typeface="Calibri"/>
                        </a:rPr>
                        <a:t>1.23 ± 0.02</a:t>
                      </a:r>
                    </a:p>
                  </a:txBody>
                  <a:tcPr marL="54864" marR="54864" marT="18288" marB="18288" anchor="ctr">
                    <a:solidFill>
                      <a:srgbClr val="FFFFFF"/>
                    </a:solidFill>
                  </a:tcPr>
                </a:tc>
              </a:tr>
              <a:tr h="365760">
                <a:tc>
                  <a:txBody>
                    <a:bodyPr wrap="square"/>
                    <a:lstStyle/>
                    <a:p>
                      <a:pPr algn="l"/>
                      <a:r>
                        <a:rPr sz="1200" b="1" i="0">
                          <a:solidFill>
                            <a:srgbClr val="222222"/>
                          </a:solidFill>
                          <a:latin typeface="Calibri"/>
                        </a:rPr>
                        <a:t>Offline RL (MNL-Q, ours)</a:t>
                      </a:r>
                    </a:p>
                  </a:txBody>
                  <a:tcPr marL="54864" marR="54864" marT="18288" marB="18288" anchor="ctr">
                    <a:solidFill>
                      <a:srgbClr val="EEF2F7"/>
                    </a:solidFill>
                  </a:tcPr>
                </a:tc>
                <a:tc>
                  <a:txBody>
                    <a:bodyPr wrap="square"/>
                    <a:lstStyle/>
                    <a:p>
                      <a:pPr algn="ctr"/>
                      <a:r>
                        <a:rPr sz="1200" b="1" i="0">
                          <a:solidFill>
                            <a:srgbClr val="222222"/>
                          </a:solidFill>
                          <a:latin typeface="Calibri"/>
                        </a:rPr>
                        <a:t>3.89 ± 0.00</a:t>
                      </a:r>
                    </a:p>
                  </a:txBody>
                  <a:tcPr marL="54864" marR="54864" marT="18288" marB="18288" anchor="ctr">
                    <a:solidFill>
                      <a:srgbClr val="EEF2F7"/>
                    </a:solidFill>
                  </a:tcPr>
                </a:tc>
                <a:tc>
                  <a:txBody>
                    <a:bodyPr wrap="square"/>
                    <a:lstStyle/>
                    <a:p>
                      <a:pPr algn="ctr"/>
                      <a:r>
                        <a:rPr sz="1200" b="1" i="0">
                          <a:solidFill>
                            <a:srgbClr val="222222"/>
                          </a:solidFill>
                          <a:latin typeface="Calibri"/>
                        </a:rPr>
                        <a:t>2.49 ± 0.03</a:t>
                      </a:r>
                    </a:p>
                  </a:txBody>
                  <a:tcPr marL="54864" marR="54864" marT="18288" marB="18288" anchor="ctr">
                    <a:solidFill>
                      <a:srgbClr val="EEF2F7"/>
                    </a:solidFill>
                  </a:tcPr>
                </a:tc>
                <a:tc>
                  <a:txBody>
                    <a:bodyPr wrap="square"/>
                    <a:lstStyle/>
                    <a:p>
                      <a:pPr algn="ctr"/>
                      <a:r>
                        <a:rPr sz="1200" b="1" i="0">
                          <a:solidFill>
                            <a:srgbClr val="222222"/>
                          </a:solidFill>
                          <a:latin typeface="Calibri"/>
                        </a:rPr>
                        <a:t>1.85 ± 0.04</a:t>
                      </a:r>
                    </a:p>
                  </a:txBody>
                  <a:tcPr marL="54864" marR="54864" marT="18288" marB="18288" anchor="ctr">
                    <a:solidFill>
                      <a:srgbClr val="EEF2F7"/>
                    </a:solidFill>
                  </a:tcPr>
                </a:tc>
                <a:tc>
                  <a:txBody>
                    <a:bodyPr wrap="square"/>
                    <a:lstStyle/>
                    <a:p>
                      <a:pPr algn="ctr"/>
                      <a:r>
                        <a:rPr sz="1200" b="1" i="0">
                          <a:solidFill>
                            <a:srgbClr val="222222"/>
                          </a:solidFill>
                          <a:latin typeface="Calibri"/>
                        </a:rPr>
                        <a:t>1.31 ± 0.05</a:t>
                      </a:r>
                    </a:p>
                  </a:txBody>
                  <a:tcPr marL="54864" marR="54864" marT="18288" marB="18288" anchor="ctr">
                    <a:solidFill>
                      <a:srgbClr val="EEF2F7"/>
                    </a:solidFill>
                  </a:tcPr>
                </a:tc>
              </a:tr>
              <a:tr h="365760">
                <a:tc>
                  <a:txBody>
                    <a:bodyPr wrap="square"/>
                    <a:lstStyle/>
                    <a:p>
                      <a:pPr algn="l"/>
                      <a:r>
                        <a:rPr sz="1200" b="0" i="0">
                          <a:solidFill>
                            <a:srgbClr val="222222"/>
                          </a:solidFill>
                          <a:latin typeface="Calibri"/>
                        </a:rPr>
                        <a:t>Online RL (DQN, top-20)</a:t>
                      </a:r>
                    </a:p>
                  </a:txBody>
                  <a:tcPr marL="54864" marR="54864" marT="18288" marB="18288" anchor="ctr">
                    <a:solidFill>
                      <a:srgbClr val="FFFFFF"/>
                    </a:solidFill>
                  </a:tcPr>
                </a:tc>
                <a:tc>
                  <a:txBody>
                    <a:bodyPr wrap="square"/>
                    <a:lstStyle/>
                    <a:p>
                      <a:pPr algn="ctr"/>
                      <a:r>
                        <a:rPr sz="1200" b="0" i="0">
                          <a:solidFill>
                            <a:srgbClr val="222222"/>
                          </a:solidFill>
                          <a:latin typeface="Calibri"/>
                        </a:rPr>
                        <a:t>4.37 ± 0.03</a:t>
                      </a:r>
                    </a:p>
                  </a:txBody>
                  <a:tcPr marL="54864" marR="54864" marT="18288" marB="18288" anchor="ctr">
                    <a:solidFill>
                      <a:srgbClr val="FFFFFF"/>
                    </a:solidFill>
                  </a:tcPr>
                </a:tc>
                <a:tc>
                  <a:txBody>
                    <a:bodyPr wrap="square"/>
                    <a:lstStyle/>
                    <a:p>
                      <a:pPr algn="ctr"/>
                      <a:r>
                        <a:rPr sz="1200" b="0" i="0">
                          <a:solidFill>
                            <a:srgbClr val="222222"/>
                          </a:solidFill>
                          <a:latin typeface="Calibri"/>
                        </a:rPr>
                        <a:t>2.46 ± 0.01</a:t>
                      </a:r>
                    </a:p>
                  </a:txBody>
                  <a:tcPr marL="54864" marR="54864" marT="18288" marB="18288" anchor="ctr">
                    <a:solidFill>
                      <a:srgbClr val="FFFFFF"/>
                    </a:solidFill>
                  </a:tcPr>
                </a:tc>
                <a:tc>
                  <a:txBody>
                    <a:bodyPr wrap="square"/>
                    <a:lstStyle/>
                    <a:p>
                      <a:pPr algn="ctr"/>
                      <a:r>
                        <a:rPr sz="1200" b="0" i="0">
                          <a:solidFill>
                            <a:srgbClr val="222222"/>
                          </a:solidFill>
                          <a:latin typeface="Calibri"/>
                        </a:rPr>
                        <a:t>1.77 ± 0.02</a:t>
                      </a:r>
                    </a:p>
                  </a:txBody>
                  <a:tcPr marL="54864" marR="54864" marT="18288" marB="18288" anchor="ctr">
                    <a:solidFill>
                      <a:srgbClr val="FFFFFF"/>
                    </a:solidFill>
                  </a:tcPr>
                </a:tc>
                <a:tc>
                  <a:txBody>
                    <a:bodyPr wrap="square"/>
                    <a:lstStyle/>
                    <a:p>
                      <a:pPr algn="ctr"/>
                      <a:r>
                        <a:rPr sz="1200" b="0" i="0">
                          <a:solidFill>
                            <a:srgbClr val="222222"/>
                          </a:solidFill>
                          <a:latin typeface="Calibri"/>
                        </a:rPr>
                        <a:t>1.18 ± 0.02</a:t>
                      </a:r>
                    </a:p>
                  </a:txBody>
                  <a:tcPr marL="54864" marR="54864" marT="18288" marB="18288" anchor="ctr">
                    <a:solidFill>
                      <a:srgbClr val="FFFFFF"/>
                    </a:solidFill>
                  </a:tcPr>
                </a:tc>
              </a:tr>
              <a:tr h="365760">
                <a:tc>
                  <a:txBody>
                    <a:bodyPr wrap="square"/>
                    <a:lstStyle/>
                    <a:p>
                      <a:pPr algn="l"/>
                      <a:r>
                        <a:rPr sz="1200" b="0" i="0">
                          <a:solidFill>
                            <a:srgbClr val="222222"/>
                          </a:solidFill>
                          <a:latin typeface="Calibri"/>
                        </a:rPr>
                        <a:t>Oracle myopic</a:t>
                      </a:r>
                    </a:p>
                  </a:txBody>
                  <a:tcPr marL="54864" marR="54864" marT="18288" marB="18288" anchor="ctr">
                    <a:solidFill>
                      <a:srgbClr val="EEF2F7"/>
                    </a:solidFill>
                  </a:tcPr>
                </a:tc>
                <a:tc>
                  <a:txBody>
                    <a:bodyPr wrap="square"/>
                    <a:lstStyle/>
                    <a:p>
                      <a:pPr algn="ctr"/>
                      <a:r>
                        <a:rPr sz="1200" b="0" i="0">
                          <a:solidFill>
                            <a:srgbClr val="222222"/>
                          </a:solidFill>
                          <a:latin typeface="Calibri"/>
                        </a:rPr>
                        <a:t>6.17 ± 0.07</a:t>
                      </a:r>
                    </a:p>
                  </a:txBody>
                  <a:tcPr marL="54864" marR="54864" marT="18288" marB="18288" anchor="ctr">
                    <a:solidFill>
                      <a:srgbClr val="EEF2F7"/>
                    </a:solidFill>
                  </a:tcPr>
                </a:tc>
                <a:tc>
                  <a:txBody>
                    <a:bodyPr wrap="square"/>
                    <a:lstStyle/>
                    <a:p>
                      <a:pPr algn="ctr"/>
                      <a:r>
                        <a:rPr sz="1200" b="0" i="0">
                          <a:solidFill>
                            <a:srgbClr val="222222"/>
                          </a:solidFill>
                          <a:latin typeface="Calibri"/>
                        </a:rPr>
                        <a:t>3.30 ± 0.04</a:t>
                      </a:r>
                    </a:p>
                  </a:txBody>
                  <a:tcPr marL="54864" marR="54864" marT="18288" marB="18288" anchor="ctr">
                    <a:solidFill>
                      <a:srgbClr val="EEF2F7"/>
                    </a:solidFill>
                  </a:tcPr>
                </a:tc>
                <a:tc>
                  <a:txBody>
                    <a:bodyPr wrap="square"/>
                    <a:lstStyle/>
                    <a:p>
                      <a:pPr algn="ctr"/>
                      <a:r>
                        <a:rPr sz="1200" b="0" i="0">
                          <a:solidFill>
                            <a:srgbClr val="222222"/>
                          </a:solidFill>
                          <a:latin typeface="Calibri"/>
                        </a:rPr>
                        <a:t>2.25 ± 0.02</a:t>
                      </a:r>
                    </a:p>
                  </a:txBody>
                  <a:tcPr marL="54864" marR="54864" marT="18288" marB="18288" anchor="ctr">
                    <a:solidFill>
                      <a:srgbClr val="EEF2F7"/>
                    </a:solidFill>
                  </a:tcPr>
                </a:tc>
                <a:tc>
                  <a:txBody>
                    <a:bodyPr wrap="square"/>
                    <a:lstStyle/>
                    <a:p>
                      <a:pPr algn="ctr"/>
                      <a:r>
                        <a:rPr sz="1200" b="0" i="0">
                          <a:solidFill>
                            <a:srgbClr val="222222"/>
                          </a:solidFill>
                          <a:latin typeface="Calibri"/>
                        </a:rPr>
                        <a:t>1.42 ± 0.03</a:t>
                      </a:r>
                    </a:p>
                  </a:txBody>
                  <a:tcPr marL="54864" marR="54864" marT="18288" marB="18288" anchor="ctr">
                    <a:solidFill>
                      <a:srgbClr val="EEF2F7"/>
                    </a:solidFill>
                  </a:tcPr>
                </a:tc>
              </a:tr>
              <a:tr h="365760">
                <a:tc>
                  <a:txBody>
                    <a:bodyPr wrap="square"/>
                    <a:lstStyle/>
                    <a:p>
                      <a:pPr algn="l"/>
                      <a:r>
                        <a:rPr sz="1200" b="0" i="0">
                          <a:solidFill>
                            <a:srgbClr val="222222"/>
                          </a:solidFill>
                          <a:latin typeface="Calibri"/>
                        </a:rPr>
                        <a:t>Oracle quality</a:t>
                      </a:r>
                    </a:p>
                  </a:txBody>
                  <a:tcPr marL="54864" marR="54864" marT="18288" marB="18288" anchor="ctr">
                    <a:solidFill>
                      <a:srgbClr val="FFFFFF"/>
                    </a:solidFill>
                  </a:tcPr>
                </a:tc>
                <a:tc>
                  <a:txBody>
                    <a:bodyPr wrap="square"/>
                    <a:lstStyle/>
                    <a:p>
                      <a:pPr algn="ctr"/>
                      <a:r>
                        <a:rPr sz="1200" b="0" i="0">
                          <a:solidFill>
                            <a:srgbClr val="222222"/>
                          </a:solidFill>
                          <a:latin typeface="Calibri"/>
                        </a:rPr>
                        <a:t>4.93 ± 0.06</a:t>
                      </a:r>
                    </a:p>
                  </a:txBody>
                  <a:tcPr marL="54864" marR="54864" marT="18288" marB="18288" anchor="ctr">
                    <a:solidFill>
                      <a:srgbClr val="FFFFFF"/>
                    </a:solidFill>
                  </a:tcPr>
                </a:tc>
                <a:tc>
                  <a:txBody>
                    <a:bodyPr wrap="square"/>
                    <a:lstStyle/>
                    <a:p>
                      <a:pPr algn="ctr"/>
                      <a:r>
                        <a:rPr sz="1200" b="0" i="0">
                          <a:solidFill>
                            <a:srgbClr val="222222"/>
                          </a:solidFill>
                          <a:latin typeface="Calibri"/>
                        </a:rPr>
                        <a:t>3.31 ± 0.02</a:t>
                      </a:r>
                    </a:p>
                  </a:txBody>
                  <a:tcPr marL="54864" marR="54864" marT="18288" marB="18288" anchor="ctr">
                    <a:solidFill>
                      <a:srgbClr val="FFFFFF"/>
                    </a:solidFill>
                  </a:tcPr>
                </a:tc>
                <a:tc>
                  <a:txBody>
                    <a:bodyPr wrap="square"/>
                    <a:lstStyle/>
                    <a:p>
                      <a:pPr algn="ctr"/>
                      <a:r>
                        <a:rPr sz="1200" b="0" i="0">
                          <a:solidFill>
                            <a:srgbClr val="222222"/>
                          </a:solidFill>
                          <a:latin typeface="Calibri"/>
                        </a:rPr>
                        <a:t>2.67 ± 0.01</a:t>
                      </a:r>
                    </a:p>
                  </a:txBody>
                  <a:tcPr marL="54864" marR="54864" marT="18288" marB="18288" anchor="ctr">
                    <a:solidFill>
                      <a:srgbClr val="FFFFFF"/>
                    </a:solidFill>
                  </a:tcPr>
                </a:tc>
                <a:tc>
                  <a:txBody>
                    <a:bodyPr wrap="square"/>
                    <a:lstStyle/>
                    <a:p>
                      <a:pPr algn="ctr"/>
                      <a:r>
                        <a:rPr sz="1200" b="0" i="0">
                          <a:solidFill>
                            <a:srgbClr val="222222"/>
                          </a:solidFill>
                          <a:latin typeface="Calibri"/>
                        </a:rPr>
                        <a:t>2.03 ± 0.04</a:t>
                      </a:r>
                    </a:p>
                  </a:txBody>
                  <a:tcPr marL="54864" marR="54864" marT="18288" marB="18288" anchor="ctr">
                    <a:solidFill>
                      <a:srgbClr val="FFFFFF"/>
                    </a:solidFill>
                  </a:tcPr>
                </a:tc>
              </a:tr>
            </a:tbl>
          </a:graphicData>
        </a:graphic>
      </p:graphicFrame>
      <p:pic>
        <p:nvPicPr>
          <p:cNvPr id="6" name="Picture 5" descr="fig_sim_m1.png"/>
          <p:cNvPicPr>
            <a:picLocks noChangeAspect="1"/>
          </p:cNvPicPr>
          <p:nvPr/>
        </p:nvPicPr>
        <p:blipFill>
          <a:blip r:embed="rId3"/>
          <a:stretch>
            <a:fillRect/>
          </a:stretch>
        </p:blipFill>
        <p:spPr>
          <a:xfrm>
            <a:off x="7269480" y="2057400"/>
            <a:ext cx="4389120" cy="2468880"/>
          </a:xfrm>
          <a:prstGeom prst="rect">
            <a:avLst/>
          </a:prstGeom>
        </p:spPr>
      </p:pic>
      <p:sp>
        <p:nvSpPr>
          <p:cNvPr id="7" name="TextBox 6"/>
          <p:cNvSpPr txBox="1"/>
          <p:nvPr/>
        </p:nvSpPr>
        <p:spPr>
          <a:xfrm>
            <a:off x="548640" y="5806440"/>
            <a:ext cx="11094415" cy="365760"/>
          </a:xfrm>
          <a:prstGeom prst="rect">
            <a:avLst/>
          </a:prstGeom>
          <a:noFill/>
        </p:spPr>
        <p:txBody>
          <a:bodyPr wrap="square" anchor="t" lIns="45720" rIns="45720">
            <a:spAutoFit/>
          </a:bodyPr>
          <a:lstStyle/>
          <a:p>
            <a:pPr algn="l"/>
            <a:r>
              <a:rPr sz="1200" b="0" i="1">
                <a:solidFill>
                  <a:srgbClr val="666666"/>
                </a:solidFill>
                <a:latin typeface="Calibri"/>
              </a:rPr>
              <a:t>Mean ± std over 3 seeds, held-out users. Figure: log y-axis; dashed = oracles (hidden information).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Findings, including the honest negatives</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12</a:t>
            </a:r>
          </a:p>
        </p:txBody>
      </p:sp>
      <p:sp>
        <p:nvSpPr>
          <p:cNvPr id="5" name="TextBox 4"/>
          <p:cNvSpPr txBox="1"/>
          <p:nvPr/>
        </p:nvSpPr>
        <p:spPr>
          <a:xfrm>
            <a:off x="548640" y="1325880"/>
            <a:ext cx="6035040" cy="4572000"/>
          </a:xfrm>
          <a:prstGeom prst="rect">
            <a:avLst/>
          </a:prstGeom>
          <a:noFill/>
        </p:spPr>
        <p:txBody>
          <a:bodyPr wrap="square">
            <a:spAutoFit/>
          </a:bodyPr>
          <a:lstStyle/>
          <a:p>
            <a:pPr>
              <a:spcAft>
                <a:spcPts val="1000"/>
              </a:spcAft>
            </a:pPr>
            <a:r>
              <a:rPr sz="1000" b="0" i="0">
                <a:solidFill>
                  <a:srgbClr val="1F3A5F"/>
                </a:solidFill>
                <a:latin typeface="Calibri"/>
              </a:rPr>
              <a:t>■  </a:t>
            </a:r>
            <a:r>
              <a:rPr sz="1600" b="1" i="0">
                <a:solidFill>
                  <a:srgbClr val="1F3A5F"/>
                </a:solidFill>
                <a:latin typeface="Calibri"/>
              </a:rPr>
              <a:t>s = 0:</a:t>
            </a:r>
            <a:r>
              <a:rPr sz="1600" b="0" i="0">
                <a:solidFill>
                  <a:srgbClr val="222222"/>
                </a:solidFill>
                <a:latin typeface="Calibri"/>
              </a:rPr>
              <a:t> offline RL adds nothing (MNL-Q −4%), as Prop. 2 predicts; online DQN best, for a short-term reason (better click estimates)</a:t>
            </a:r>
          </a:p>
          <a:p>
            <a:pPr>
              <a:spcAft>
                <a:spcPts val="1000"/>
              </a:spcAft>
            </a:pPr>
            <a:r>
              <a:rPr sz="1000" b="0" i="0">
                <a:solidFill>
                  <a:srgbClr val="1F3A5F"/>
                </a:solidFill>
                <a:latin typeface="Calibri"/>
              </a:rPr>
              <a:t>■  </a:t>
            </a:r>
            <a:r>
              <a:rPr sz="1600" b="1" i="0">
                <a:solidFill>
                  <a:srgbClr val="1F3A5F"/>
                </a:solidFill>
                <a:latin typeface="Calibri"/>
              </a:rPr>
              <a:t>s &gt; 0:</a:t>
            </a:r>
            <a:r>
              <a:rPr sz="1600" b="0" i="0">
                <a:solidFill>
                  <a:srgbClr val="222222"/>
                </a:solidFill>
                <a:latin typeface="Calibri"/>
              </a:rPr>
              <a:t> MNL-Q vs supervised: +1% at s = 0.25, +5% at s = 0.5, +11% at s = 1.0</a:t>
            </a:r>
          </a:p>
          <a:p>
            <a:pPr>
              <a:spcAft>
                <a:spcPts val="1000"/>
              </a:spcAft>
            </a:pPr>
            <a:r>
              <a:rPr sz="1000" b="0" i="0">
                <a:solidFill>
                  <a:srgbClr val="1F3A5F"/>
                </a:solidFill>
                <a:latin typeface="Calibri"/>
              </a:rPr>
              <a:t>■  </a:t>
            </a:r>
            <a:r>
              <a:rPr sz="1600" b="0" i="0">
                <a:solidFill>
                  <a:srgbClr val="222222"/>
                </a:solidFill>
                <a:latin typeface="Calibri"/>
              </a:rPr>
              <a:t>At s = 1.0: </a:t>
            </a:r>
            <a:r>
              <a:rPr sz="1600" b="1" i="0">
                <a:solidFill>
                  <a:srgbClr val="1F3A5F"/>
                </a:solidFill>
                <a:latin typeface="Calibri"/>
              </a:rPr>
              <a:t>43% less junk</a:t>
            </a:r>
            <a:r>
              <a:rPr sz="1600" b="0" i="0">
                <a:solidFill>
                  <a:srgbClr val="222222"/>
                </a:solidFill>
                <a:latin typeface="Calibri"/>
              </a:rPr>
              <a:t>, longer sessions, slightly lower CTR</a:t>
            </a:r>
          </a:p>
          <a:p>
            <a:pPr>
              <a:spcAft>
                <a:spcPts val="1000"/>
              </a:spcAft>
            </a:pPr>
            <a:r>
              <a:rPr sz="1000" b="0" i="0">
                <a:solidFill>
                  <a:srgbClr val="1F3A5F"/>
                </a:solidFill>
                <a:latin typeface="Calibri"/>
              </a:rPr>
              <a:t>■  </a:t>
            </a:r>
            <a:r>
              <a:rPr sz="1600" b="1" i="0">
                <a:solidFill>
                  <a:srgbClr val="1F3A5F"/>
                </a:solidFill>
                <a:latin typeface="Calibri"/>
              </a:rPr>
              <a:t>Negative 1:</a:t>
            </a:r>
            <a:r>
              <a:rPr sz="1600" b="0" i="0">
                <a:solidFill>
                  <a:srgbClr val="222222"/>
                </a:solidFill>
                <a:latin typeface="Calibri"/>
              </a:rPr>
              <a:t> plain DQN over 500 items worse than supervised (≈1.05 clicks/session at s = 1 in a single tuning run, vs 1.21 for supervised in that run); top-20 DQN only matches supervised for s &gt; 0</a:t>
            </a:r>
          </a:p>
          <a:p>
            <a:pPr>
              <a:spcAft>
                <a:spcPts val="1000"/>
              </a:spcAft>
            </a:pPr>
            <a:r>
              <a:rPr sz="1000" b="0" i="0">
                <a:solidFill>
                  <a:srgbClr val="1F3A5F"/>
                </a:solidFill>
                <a:latin typeface="Calibri"/>
              </a:rPr>
              <a:t>■  </a:t>
            </a:r>
            <a:r>
              <a:rPr sz="1600" b="1" i="0">
                <a:solidFill>
                  <a:srgbClr val="1F3A5F"/>
                </a:solidFill>
                <a:latin typeface="Calibri"/>
              </a:rPr>
              <a:t>Negative 2:</a:t>
            </a:r>
            <a:r>
              <a:rPr sz="1600" b="0" i="0">
                <a:solidFill>
                  <a:srgbClr val="222222"/>
                </a:solidFill>
                <a:latin typeface="Calibri"/>
              </a:rPr>
              <a:t> est.-rating heuristic beats all learned agents for s &gt; 0: RL learns the direction, not the full gain</a:t>
            </a:r>
          </a:p>
        </p:txBody>
      </p:sp>
      <p:graphicFrame>
        <p:nvGraphicFramePr>
          <p:cNvPr id="6" name="Table 5"/>
          <p:cNvGraphicFramePr>
            <a:graphicFrameLocks noGrp="1"/>
          </p:cNvGraphicFramePr>
          <p:nvPr/>
        </p:nvGraphicFramePr>
        <p:xfrm>
          <a:off x="6812280" y="1325880"/>
          <a:ext cx="4846318" cy="3200400"/>
        </p:xfrm>
        <a:graphic>
          <a:graphicData uri="http://schemas.openxmlformats.org/drawingml/2006/table">
            <a:tbl>
              <a:tblPr firstRow="1" bandRow="1">
                <a:tableStyleId>{5C22544A-7EE6-4342-B048-85BDC9FD1C3A}</a:tableStyleId>
              </a:tblPr>
              <a:tblGrid>
                <a:gridCol w="1741646"/>
                <a:gridCol w="757237"/>
                <a:gridCol w="757237"/>
                <a:gridCol w="757237"/>
                <a:gridCol w="832961"/>
              </a:tblGrid>
              <a:tr h="457200">
                <a:tc>
                  <a:txBody>
                    <a:bodyPr wrap="square"/>
                    <a:lstStyle/>
                    <a:p>
                      <a:pPr algn="l"/>
                      <a:r>
                        <a:rPr sz="1200" b="1" i="0">
                          <a:solidFill>
                            <a:srgbClr val="FFFFFF"/>
                          </a:solidFill>
                          <a:latin typeface="Calibri"/>
                        </a:rPr>
                        <a:t>agent</a:t>
                      </a:r>
                    </a:p>
                  </a:txBody>
                  <a:tcPr marL="54864" marR="54864" marT="18288" marB="18288" anchor="ctr">
                    <a:solidFill>
                      <a:srgbClr val="1F3A5F"/>
                    </a:solidFill>
                  </a:tcPr>
                </a:tc>
                <a:tc>
                  <a:txBody>
                    <a:bodyPr wrap="square"/>
                    <a:lstStyle/>
                    <a:p>
                      <a:pPr algn="ctr"/>
                      <a:r>
                        <a:rPr sz="1200" b="1" i="0">
                          <a:solidFill>
                            <a:srgbClr val="FFFFFF"/>
                          </a:solidFill>
                          <a:latin typeface="Calibri"/>
                        </a:rPr>
                        <a:t>CTR s=0.0</a:t>
                      </a:r>
                    </a:p>
                  </a:txBody>
                  <a:tcPr marL="54864" marR="54864" marT="18288" marB="18288" anchor="ctr">
                    <a:solidFill>
                      <a:srgbClr val="1F3A5F"/>
                    </a:solidFill>
                  </a:tcPr>
                </a:tc>
                <a:tc>
                  <a:txBody>
                    <a:bodyPr wrap="square"/>
                    <a:lstStyle/>
                    <a:p>
                      <a:pPr algn="ctr"/>
                      <a:r>
                        <a:rPr sz="1200" b="1" i="0">
                          <a:solidFill>
                            <a:srgbClr val="FFFFFF"/>
                          </a:solidFill>
                          <a:latin typeface="Calibri"/>
                        </a:rPr>
                        <a:t>CTR s=1.0</a:t>
                      </a:r>
                    </a:p>
                  </a:txBody>
                  <a:tcPr marL="54864" marR="54864" marT="18288" marB="18288" anchor="ctr">
                    <a:solidFill>
                      <a:srgbClr val="1F3A5F"/>
                    </a:solidFill>
                  </a:tcPr>
                </a:tc>
                <a:tc>
                  <a:txBody>
                    <a:bodyPr wrap="square"/>
                    <a:lstStyle/>
                    <a:p>
                      <a:pPr algn="ctr"/>
                      <a:r>
                        <a:rPr sz="1200" b="1" i="0">
                          <a:solidFill>
                            <a:srgbClr val="FFFFFF"/>
                          </a:solidFill>
                          <a:latin typeface="Calibri"/>
                        </a:rPr>
                        <a:t>junk s=1.0</a:t>
                      </a:r>
                    </a:p>
                  </a:txBody>
                  <a:tcPr marL="54864" marR="54864" marT="18288" marB="18288" anchor="ctr">
                    <a:solidFill>
                      <a:srgbClr val="1F3A5F"/>
                    </a:solidFill>
                  </a:tcPr>
                </a:tc>
                <a:tc>
                  <a:txBody>
                    <a:bodyPr wrap="square"/>
                    <a:lstStyle/>
                    <a:p>
                      <a:pPr algn="ctr"/>
                      <a:r>
                        <a:rPr sz="1200" b="1" i="0">
                          <a:solidFill>
                            <a:srgbClr val="FFFFFF"/>
                          </a:solidFill>
                          <a:latin typeface="Calibri"/>
                        </a:rPr>
                        <a:t>length s=1.0</a:t>
                      </a:r>
                    </a:p>
                  </a:txBody>
                  <a:tcPr marL="54864" marR="54864" marT="18288" marB="18288" anchor="ctr">
                    <a:solidFill>
                      <a:srgbClr val="1F3A5F"/>
                    </a:solidFill>
                  </a:tcPr>
                </a:tc>
              </a:tr>
              <a:tr h="457200">
                <a:tc>
                  <a:txBody>
                    <a:bodyPr wrap="square"/>
                    <a:lstStyle/>
                    <a:p>
                      <a:pPr algn="l"/>
                      <a:r>
                        <a:rPr sz="1200" b="0" i="0">
                          <a:solidFill>
                            <a:srgbClr val="222222"/>
                          </a:solidFill>
                          <a:latin typeface="Calibri"/>
                        </a:rPr>
                        <a:t>Est.-rating heuristic</a:t>
                      </a:r>
                    </a:p>
                  </a:txBody>
                  <a:tcPr marL="54864" marR="54864" marT="18288" marB="18288" anchor="ctr">
                    <a:solidFill>
                      <a:srgbClr val="FFFFFF"/>
                    </a:solidFill>
                  </a:tcPr>
                </a:tc>
                <a:tc>
                  <a:txBody>
                    <a:bodyPr wrap="square"/>
                    <a:lstStyle/>
                    <a:p>
                      <a:pPr algn="ctr"/>
                      <a:r>
                        <a:rPr sz="1200" b="0" i="0">
                          <a:solidFill>
                            <a:srgbClr val="222222"/>
                          </a:solidFill>
                          <a:latin typeface="Calibri"/>
                        </a:rPr>
                        <a:t>0.295</a:t>
                      </a:r>
                    </a:p>
                  </a:txBody>
                  <a:tcPr marL="54864" marR="54864" marT="18288" marB="18288" anchor="ctr">
                    <a:solidFill>
                      <a:srgbClr val="FFFFFF"/>
                    </a:solidFill>
                  </a:tcPr>
                </a:tc>
                <a:tc>
                  <a:txBody>
                    <a:bodyPr wrap="square"/>
                    <a:lstStyle/>
                    <a:p>
                      <a:pPr algn="ctr"/>
                      <a:r>
                        <a:rPr sz="1200" b="0" i="0">
                          <a:solidFill>
                            <a:srgbClr val="222222"/>
                          </a:solidFill>
                          <a:latin typeface="Calibri"/>
                        </a:rPr>
                        <a:t>0.295</a:t>
                      </a:r>
                    </a:p>
                  </a:txBody>
                  <a:tcPr marL="54864" marR="54864" marT="18288" marB="18288" anchor="ctr">
                    <a:solidFill>
                      <a:srgbClr val="FFFFFF"/>
                    </a:solidFill>
                  </a:tcPr>
                </a:tc>
                <a:tc>
                  <a:txBody>
                    <a:bodyPr wrap="square"/>
                    <a:lstStyle/>
                    <a:p>
                      <a:pPr algn="ctr"/>
                      <a:r>
                        <a:rPr sz="1200" b="0" i="0">
                          <a:solidFill>
                            <a:srgbClr val="222222"/>
                          </a:solidFill>
                          <a:latin typeface="Calibri"/>
                        </a:rPr>
                        <a:t>0.07</a:t>
                      </a:r>
                    </a:p>
                  </a:txBody>
                  <a:tcPr marL="54864" marR="54864" marT="18288" marB="18288" anchor="ctr">
                    <a:solidFill>
                      <a:srgbClr val="FFFFFF"/>
                    </a:solidFill>
                  </a:tcPr>
                </a:tc>
                <a:tc>
                  <a:txBody>
                    <a:bodyPr wrap="square"/>
                    <a:lstStyle/>
                    <a:p>
                      <a:pPr algn="ctr"/>
                      <a:r>
                        <a:rPr sz="1200" b="0" i="0">
                          <a:solidFill>
                            <a:srgbClr val="222222"/>
                          </a:solidFill>
                          <a:latin typeface="Calibri"/>
                        </a:rPr>
                        <a:t>7.3</a:t>
                      </a:r>
                    </a:p>
                  </a:txBody>
                  <a:tcPr marL="54864" marR="54864" marT="18288" marB="18288" anchor="ctr">
                    <a:solidFill>
                      <a:srgbClr val="FFFFFF"/>
                    </a:solidFill>
                  </a:tcPr>
                </a:tc>
              </a:tr>
              <a:tr h="457200">
                <a:tc>
                  <a:txBody>
                    <a:bodyPr wrap="square"/>
                    <a:lstStyle/>
                    <a:p>
                      <a:pPr algn="l"/>
                      <a:r>
                        <a:rPr sz="1200" b="1" i="0">
                          <a:solidFill>
                            <a:srgbClr val="222222"/>
                          </a:solidFill>
                          <a:latin typeface="Calibri"/>
                        </a:rPr>
                        <a:t>Supervised (CE)</a:t>
                      </a:r>
                    </a:p>
                  </a:txBody>
                  <a:tcPr marL="54864" marR="54864" marT="18288" marB="18288" anchor="ctr">
                    <a:solidFill>
                      <a:srgbClr val="EEF2F7"/>
                    </a:solidFill>
                  </a:tcPr>
                </a:tc>
                <a:tc>
                  <a:txBody>
                    <a:bodyPr wrap="square"/>
                    <a:lstStyle/>
                    <a:p>
                      <a:pPr algn="ctr"/>
                      <a:r>
                        <a:rPr sz="1200" b="1" i="0">
                          <a:solidFill>
                            <a:srgbClr val="222222"/>
                          </a:solidFill>
                          <a:latin typeface="Calibri"/>
                        </a:rPr>
                        <a:t>0.290</a:t>
                      </a:r>
                    </a:p>
                  </a:txBody>
                  <a:tcPr marL="54864" marR="54864" marT="18288" marB="18288" anchor="ctr">
                    <a:solidFill>
                      <a:srgbClr val="EEF2F7"/>
                    </a:solidFill>
                  </a:tcPr>
                </a:tc>
                <a:tc>
                  <a:txBody>
                    <a:bodyPr wrap="square"/>
                    <a:lstStyle/>
                    <a:p>
                      <a:pPr algn="ctr"/>
                      <a:r>
                        <a:rPr sz="1200" b="1" i="0">
                          <a:solidFill>
                            <a:srgbClr val="222222"/>
                          </a:solidFill>
                          <a:latin typeface="Calibri"/>
                        </a:rPr>
                        <a:t>0.299</a:t>
                      </a:r>
                    </a:p>
                  </a:txBody>
                  <a:tcPr marL="54864" marR="54864" marT="18288" marB="18288" anchor="ctr">
                    <a:solidFill>
                      <a:srgbClr val="EEF2F7"/>
                    </a:solidFill>
                  </a:tcPr>
                </a:tc>
                <a:tc>
                  <a:txBody>
                    <a:bodyPr wrap="square"/>
                    <a:lstStyle/>
                    <a:p>
                      <a:pPr algn="ctr"/>
                      <a:r>
                        <a:rPr sz="1200" b="1" i="0">
                          <a:solidFill>
                            <a:srgbClr val="222222"/>
                          </a:solidFill>
                          <a:latin typeface="Calibri"/>
                        </a:rPr>
                        <a:t>0.58</a:t>
                      </a:r>
                    </a:p>
                  </a:txBody>
                  <a:tcPr marL="54864" marR="54864" marT="18288" marB="18288" anchor="ctr">
                    <a:solidFill>
                      <a:srgbClr val="EEF2F7"/>
                    </a:solidFill>
                  </a:tcPr>
                </a:tc>
                <a:tc>
                  <a:txBody>
                    <a:bodyPr wrap="square"/>
                    <a:lstStyle/>
                    <a:p>
                      <a:pPr algn="ctr"/>
                      <a:r>
                        <a:rPr sz="1200" b="1" i="0">
                          <a:solidFill>
                            <a:srgbClr val="222222"/>
                          </a:solidFill>
                          <a:latin typeface="Calibri"/>
                        </a:rPr>
                        <a:t>4.6</a:t>
                      </a:r>
                    </a:p>
                  </a:txBody>
                  <a:tcPr marL="54864" marR="54864" marT="18288" marB="18288" anchor="ctr">
                    <a:solidFill>
                      <a:srgbClr val="EEF2F7"/>
                    </a:solidFill>
                  </a:tcPr>
                </a:tc>
              </a:tr>
              <a:tr h="457200">
                <a:tc>
                  <a:txBody>
                    <a:bodyPr wrap="square"/>
                    <a:lstStyle/>
                    <a:p>
                      <a:pPr algn="l"/>
                      <a:r>
                        <a:rPr sz="1200" b="0" i="0">
                          <a:solidFill>
                            <a:srgbClr val="222222"/>
                          </a:solidFill>
                          <a:latin typeface="Calibri"/>
                        </a:rPr>
                        <a:t>SQN-style (CE+TD)</a:t>
                      </a:r>
                    </a:p>
                  </a:txBody>
                  <a:tcPr marL="54864" marR="54864" marT="18288" marB="18288" anchor="ctr">
                    <a:solidFill>
                      <a:srgbClr val="FFFFFF"/>
                    </a:solidFill>
                  </a:tcPr>
                </a:tc>
                <a:tc>
                  <a:txBody>
                    <a:bodyPr wrap="square"/>
                    <a:lstStyle/>
                    <a:p>
                      <a:pPr algn="ctr"/>
                      <a:r>
                        <a:rPr sz="1200" b="0" i="0">
                          <a:solidFill>
                            <a:srgbClr val="222222"/>
                          </a:solidFill>
                          <a:latin typeface="Calibri"/>
                        </a:rPr>
                        <a:t>0.275</a:t>
                      </a:r>
                    </a:p>
                  </a:txBody>
                  <a:tcPr marL="54864" marR="54864" marT="18288" marB="18288" anchor="ctr">
                    <a:solidFill>
                      <a:srgbClr val="FFFFFF"/>
                    </a:solidFill>
                  </a:tcPr>
                </a:tc>
                <a:tc>
                  <a:txBody>
                    <a:bodyPr wrap="square"/>
                    <a:lstStyle/>
                    <a:p>
                      <a:pPr algn="ctr"/>
                      <a:r>
                        <a:rPr sz="1200" b="0" i="0">
                          <a:solidFill>
                            <a:srgbClr val="222222"/>
                          </a:solidFill>
                          <a:latin typeface="Calibri"/>
                        </a:rPr>
                        <a:t>0.293</a:t>
                      </a:r>
                    </a:p>
                  </a:txBody>
                  <a:tcPr marL="54864" marR="54864" marT="18288" marB="18288" anchor="ctr">
                    <a:solidFill>
                      <a:srgbClr val="FFFFFF"/>
                    </a:solidFill>
                  </a:tcPr>
                </a:tc>
                <a:tc>
                  <a:txBody>
                    <a:bodyPr wrap="square"/>
                    <a:lstStyle/>
                    <a:p>
                      <a:pPr algn="ctr"/>
                      <a:r>
                        <a:rPr sz="1200" b="0" i="0">
                          <a:solidFill>
                            <a:srgbClr val="222222"/>
                          </a:solidFill>
                          <a:latin typeface="Calibri"/>
                        </a:rPr>
                        <a:t>0.52</a:t>
                      </a:r>
                    </a:p>
                  </a:txBody>
                  <a:tcPr marL="54864" marR="54864" marT="18288" marB="18288" anchor="ctr">
                    <a:solidFill>
                      <a:srgbClr val="FFFFFF"/>
                    </a:solidFill>
                  </a:tcPr>
                </a:tc>
                <a:tc>
                  <a:txBody>
                    <a:bodyPr wrap="square"/>
                    <a:lstStyle/>
                    <a:p>
                      <a:pPr algn="ctr"/>
                      <a:r>
                        <a:rPr sz="1200" b="0" i="0">
                          <a:solidFill>
                            <a:srgbClr val="222222"/>
                          </a:solidFill>
                          <a:latin typeface="Calibri"/>
                        </a:rPr>
                        <a:t>4.8</a:t>
                      </a:r>
                    </a:p>
                  </a:txBody>
                  <a:tcPr marL="54864" marR="54864" marT="18288" marB="18288" anchor="ctr">
                    <a:solidFill>
                      <a:srgbClr val="FFFFFF"/>
                    </a:solidFill>
                  </a:tcPr>
                </a:tc>
              </a:tr>
              <a:tr h="457200">
                <a:tc>
                  <a:txBody>
                    <a:bodyPr wrap="square"/>
                    <a:lstStyle/>
                    <a:p>
                      <a:pPr algn="l"/>
                      <a:r>
                        <a:rPr sz="1200" b="0" i="0">
                          <a:solidFill>
                            <a:srgbClr val="222222"/>
                          </a:solidFill>
                          <a:latin typeface="Calibri"/>
                        </a:rPr>
                        <a:t>Offline RL (CQL)</a:t>
                      </a:r>
                    </a:p>
                  </a:txBody>
                  <a:tcPr marL="54864" marR="54864" marT="18288" marB="18288" anchor="ctr">
                    <a:solidFill>
                      <a:srgbClr val="EEF2F7"/>
                    </a:solidFill>
                  </a:tcPr>
                </a:tc>
                <a:tc>
                  <a:txBody>
                    <a:bodyPr wrap="square"/>
                    <a:lstStyle/>
                    <a:p>
                      <a:pPr algn="ctr"/>
                      <a:r>
                        <a:rPr sz="1200" b="0" i="0">
                          <a:solidFill>
                            <a:srgbClr val="222222"/>
                          </a:solidFill>
                          <a:latin typeface="Calibri"/>
                        </a:rPr>
                        <a:t>0.246</a:t>
                      </a:r>
                    </a:p>
                  </a:txBody>
                  <a:tcPr marL="54864" marR="54864" marT="18288" marB="18288" anchor="ctr">
                    <a:solidFill>
                      <a:srgbClr val="EEF2F7"/>
                    </a:solidFill>
                  </a:tcPr>
                </a:tc>
                <a:tc>
                  <a:txBody>
                    <a:bodyPr wrap="square"/>
                    <a:lstStyle/>
                    <a:p>
                      <a:pPr algn="ctr"/>
                      <a:r>
                        <a:rPr sz="1200" b="0" i="0">
                          <a:solidFill>
                            <a:srgbClr val="222222"/>
                          </a:solidFill>
                          <a:latin typeface="Calibri"/>
                        </a:rPr>
                        <a:t>0.240</a:t>
                      </a:r>
                    </a:p>
                  </a:txBody>
                  <a:tcPr marL="54864" marR="54864" marT="18288" marB="18288" anchor="ctr">
                    <a:solidFill>
                      <a:srgbClr val="EEF2F7"/>
                    </a:solidFill>
                  </a:tcPr>
                </a:tc>
                <a:tc>
                  <a:txBody>
                    <a:bodyPr wrap="square"/>
                    <a:lstStyle/>
                    <a:p>
                      <a:pPr algn="ctr"/>
                      <a:r>
                        <a:rPr sz="1200" b="0" i="0">
                          <a:solidFill>
                            <a:srgbClr val="222222"/>
                          </a:solidFill>
                          <a:latin typeface="Calibri"/>
                        </a:rPr>
                        <a:t>0.13</a:t>
                      </a:r>
                    </a:p>
                  </a:txBody>
                  <a:tcPr marL="54864" marR="54864" marT="18288" marB="18288" anchor="ctr">
                    <a:solidFill>
                      <a:srgbClr val="EEF2F7"/>
                    </a:solidFill>
                  </a:tcPr>
                </a:tc>
                <a:tc>
                  <a:txBody>
                    <a:bodyPr wrap="square"/>
                    <a:lstStyle/>
                    <a:p>
                      <a:pPr algn="ctr"/>
                      <a:r>
                        <a:rPr sz="1200" b="0" i="0">
                          <a:solidFill>
                            <a:srgbClr val="222222"/>
                          </a:solidFill>
                          <a:latin typeface="Calibri"/>
                        </a:rPr>
                        <a:t>6.0</a:t>
                      </a:r>
                    </a:p>
                  </a:txBody>
                  <a:tcPr marL="54864" marR="54864" marT="18288" marB="18288" anchor="ctr">
                    <a:solidFill>
                      <a:srgbClr val="EEF2F7"/>
                    </a:solidFill>
                  </a:tcPr>
                </a:tc>
              </a:tr>
              <a:tr h="457200">
                <a:tc>
                  <a:txBody>
                    <a:bodyPr wrap="square"/>
                    <a:lstStyle/>
                    <a:p>
                      <a:pPr algn="l"/>
                      <a:r>
                        <a:rPr sz="1200" b="1" i="0">
                          <a:solidFill>
                            <a:srgbClr val="222222"/>
                          </a:solidFill>
                          <a:latin typeface="Calibri"/>
                        </a:rPr>
                        <a:t>Offline RL (MNL-Q, ours)</a:t>
                      </a:r>
                    </a:p>
                  </a:txBody>
                  <a:tcPr marL="54864" marR="54864" marT="18288" marB="18288" anchor="ctr">
                    <a:solidFill>
                      <a:srgbClr val="FFFFFF"/>
                    </a:solidFill>
                  </a:tcPr>
                </a:tc>
                <a:tc>
                  <a:txBody>
                    <a:bodyPr wrap="square"/>
                    <a:lstStyle/>
                    <a:p>
                      <a:pPr algn="ctr"/>
                      <a:r>
                        <a:rPr sz="1200" b="1" i="0">
                          <a:solidFill>
                            <a:srgbClr val="222222"/>
                          </a:solidFill>
                          <a:latin typeface="Calibri"/>
                        </a:rPr>
                        <a:t>0.271</a:t>
                      </a:r>
                    </a:p>
                  </a:txBody>
                  <a:tcPr marL="54864" marR="54864" marT="18288" marB="18288" anchor="ctr">
                    <a:solidFill>
                      <a:srgbClr val="FFFFFF"/>
                    </a:solidFill>
                  </a:tcPr>
                </a:tc>
                <a:tc>
                  <a:txBody>
                    <a:bodyPr wrap="square"/>
                    <a:lstStyle/>
                    <a:p>
                      <a:pPr algn="ctr"/>
                      <a:r>
                        <a:rPr sz="1200" b="1" i="0">
                          <a:solidFill>
                            <a:srgbClr val="222222"/>
                          </a:solidFill>
                          <a:latin typeface="Calibri"/>
                        </a:rPr>
                        <a:t>0.275</a:t>
                      </a:r>
                    </a:p>
                  </a:txBody>
                  <a:tcPr marL="54864" marR="54864" marT="18288" marB="18288" anchor="ctr">
                    <a:solidFill>
                      <a:srgbClr val="FFFFFF"/>
                    </a:solidFill>
                  </a:tcPr>
                </a:tc>
                <a:tc>
                  <a:txBody>
                    <a:bodyPr wrap="square"/>
                    <a:lstStyle/>
                    <a:p>
                      <a:pPr algn="ctr"/>
                      <a:r>
                        <a:rPr sz="1200" b="1" i="0">
                          <a:solidFill>
                            <a:srgbClr val="222222"/>
                          </a:solidFill>
                          <a:latin typeface="Calibri"/>
                        </a:rPr>
                        <a:t>0.33</a:t>
                      </a:r>
                    </a:p>
                  </a:txBody>
                  <a:tcPr marL="54864" marR="54864" marT="18288" marB="18288" anchor="ctr">
                    <a:solidFill>
                      <a:srgbClr val="FFFFFF"/>
                    </a:solidFill>
                  </a:tcPr>
                </a:tc>
                <a:tc>
                  <a:txBody>
                    <a:bodyPr wrap="square"/>
                    <a:lstStyle/>
                    <a:p>
                      <a:pPr algn="ctr"/>
                      <a:r>
                        <a:rPr sz="1200" b="1" i="0">
                          <a:solidFill>
                            <a:srgbClr val="222222"/>
                          </a:solidFill>
                          <a:latin typeface="Calibri"/>
                        </a:rPr>
                        <a:t>5.6</a:t>
                      </a:r>
                    </a:p>
                  </a:txBody>
                  <a:tcPr marL="54864" marR="54864" marT="18288" marB="18288" anchor="ctr">
                    <a:solidFill>
                      <a:srgbClr val="FFFFFF"/>
                    </a:solidFill>
                  </a:tcPr>
                </a:tc>
              </a:tr>
              <a:tr h="457200">
                <a:tc>
                  <a:txBody>
                    <a:bodyPr wrap="square"/>
                    <a:lstStyle/>
                    <a:p>
                      <a:pPr algn="l"/>
                      <a:r>
                        <a:rPr sz="1200" b="0" i="0">
                          <a:solidFill>
                            <a:srgbClr val="222222"/>
                          </a:solidFill>
                          <a:latin typeface="Calibri"/>
                        </a:rPr>
                        <a:t>Online RL (DQN, top-20)</a:t>
                      </a:r>
                    </a:p>
                  </a:txBody>
                  <a:tcPr marL="54864" marR="54864" marT="18288" marB="18288" anchor="ctr">
                    <a:solidFill>
                      <a:srgbClr val="EEF2F7"/>
                    </a:solidFill>
                  </a:tcPr>
                </a:tc>
                <a:tc>
                  <a:txBody>
                    <a:bodyPr wrap="square"/>
                    <a:lstStyle/>
                    <a:p>
                      <a:pPr algn="ctr"/>
                      <a:r>
                        <a:rPr sz="1200" b="0" i="0">
                          <a:solidFill>
                            <a:srgbClr val="222222"/>
                          </a:solidFill>
                          <a:latin typeface="Calibri"/>
                        </a:rPr>
                        <a:t>0.304</a:t>
                      </a:r>
                    </a:p>
                  </a:txBody>
                  <a:tcPr marL="54864" marR="54864" marT="18288" marB="18288" anchor="ctr">
                    <a:solidFill>
                      <a:srgbClr val="EEF2F7"/>
                    </a:solidFill>
                  </a:tcPr>
                </a:tc>
                <a:tc>
                  <a:txBody>
                    <a:bodyPr wrap="square"/>
                    <a:lstStyle/>
                    <a:p>
                      <a:pPr algn="ctr"/>
                      <a:r>
                        <a:rPr sz="1200" b="0" i="0">
                          <a:solidFill>
                            <a:srgbClr val="222222"/>
                          </a:solidFill>
                          <a:latin typeface="Calibri"/>
                        </a:rPr>
                        <a:t>0.275</a:t>
                      </a:r>
                    </a:p>
                  </a:txBody>
                  <a:tcPr marL="54864" marR="54864" marT="18288" marB="18288" anchor="ctr">
                    <a:solidFill>
                      <a:srgbClr val="EEF2F7"/>
                    </a:solidFill>
                  </a:tcPr>
                </a:tc>
                <a:tc>
                  <a:txBody>
                    <a:bodyPr wrap="square"/>
                    <a:lstStyle/>
                    <a:p>
                      <a:pPr algn="ctr"/>
                      <a:r>
                        <a:rPr sz="1200" b="0" i="0">
                          <a:solidFill>
                            <a:srgbClr val="222222"/>
                          </a:solidFill>
                          <a:latin typeface="Calibri"/>
                        </a:rPr>
                        <a:t>0.44</a:t>
                      </a:r>
                    </a:p>
                  </a:txBody>
                  <a:tcPr marL="54864" marR="54864" marT="18288" marB="18288" anchor="ctr">
                    <a:solidFill>
                      <a:srgbClr val="EEF2F7"/>
                    </a:solidFill>
                  </a:tcPr>
                </a:tc>
                <a:tc>
                  <a:txBody>
                    <a:bodyPr wrap="square"/>
                    <a:lstStyle/>
                    <a:p>
                      <a:pPr algn="ctr"/>
                      <a:r>
                        <a:rPr sz="1200" b="0" i="0">
                          <a:solidFill>
                            <a:srgbClr val="222222"/>
                          </a:solidFill>
                          <a:latin typeface="Calibri"/>
                        </a:rPr>
                        <a:t>5.0</a:t>
                      </a:r>
                    </a:p>
                  </a:txBody>
                  <a:tcPr marL="54864" marR="54864" marT="18288" marB="18288" anchor="ctr">
                    <a:solidFill>
                      <a:srgbClr val="EEF2F7"/>
                    </a:solidFill>
                  </a:tcPr>
                </a:tc>
              </a:tr>
            </a:tbl>
          </a:graphicData>
        </a:graphic>
      </p:graphicFrame>
      <p:sp>
        <p:nvSpPr>
          <p:cNvPr id="7" name="TextBox 6"/>
          <p:cNvSpPr txBox="1"/>
          <p:nvPr/>
        </p:nvSpPr>
        <p:spPr>
          <a:xfrm>
            <a:off x="6812280" y="4663440"/>
            <a:ext cx="4846320" cy="548640"/>
          </a:xfrm>
          <a:prstGeom prst="rect">
            <a:avLst/>
          </a:prstGeom>
          <a:noFill/>
        </p:spPr>
        <p:txBody>
          <a:bodyPr wrap="square" anchor="t" lIns="45720" rIns="45720">
            <a:spAutoFit/>
          </a:bodyPr>
          <a:lstStyle/>
          <a:p>
            <a:pPr algn="l"/>
            <a:r>
              <a:rPr sz="1200" b="0" i="1">
                <a:solidFill>
                  <a:srgbClr val="666666"/>
                </a:solidFill>
                <a:latin typeface="Calibri"/>
              </a:rPr>
              <a:t>Short-term CTR vs junk clicks and session length (from the report)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Demo: Streamlit live session</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13</a:t>
            </a:r>
          </a:p>
        </p:txBody>
      </p:sp>
      <p:sp>
        <p:nvSpPr>
          <p:cNvPr id="5" name="TextBox 4"/>
          <p:cNvSpPr txBox="1"/>
          <p:nvPr/>
        </p:nvSpPr>
        <p:spPr>
          <a:xfrm>
            <a:off x="548640" y="1417320"/>
            <a:ext cx="6675120" cy="4114800"/>
          </a:xfrm>
          <a:prstGeom prst="rect">
            <a:avLst/>
          </a:prstGeom>
          <a:noFill/>
        </p:spPr>
        <p:txBody>
          <a:bodyPr wrap="square">
            <a:spAutoFit/>
          </a:bodyPr>
          <a:lstStyle/>
          <a:p>
            <a:pPr>
              <a:spcAft>
                <a:spcPts val="1200"/>
              </a:spcAft>
            </a:pPr>
            <a:r>
              <a:rPr sz="1200" b="0" i="0">
                <a:solidFill>
                  <a:srgbClr val="1F3A5F"/>
                </a:solidFill>
                <a:latin typeface="Calibri"/>
              </a:rPr>
              <a:t>■  </a:t>
            </a:r>
            <a:r>
              <a:rPr sz="1800" b="0" i="0">
                <a:solidFill>
                  <a:srgbClr val="222222"/>
                </a:solidFill>
                <a:latin typeface="Calibri"/>
              </a:rPr>
              <a:t>One simulated user, </a:t>
            </a:r>
            <a:r>
              <a:rPr sz="1800" b="1" i="0">
                <a:solidFill>
                  <a:srgbClr val="1F3A5F"/>
                </a:solidFill>
                <a:latin typeface="Calibri"/>
              </a:rPr>
              <a:t>two recommenders side by side</a:t>
            </a:r>
            <a:r>
              <a:rPr sz="1800" b="0" i="0">
                <a:solidFill>
                  <a:srgbClr val="222222"/>
                </a:solidFill>
                <a:latin typeface="Calibri"/>
              </a:rPr>
              <a:t>, identical random draws</a:t>
            </a:r>
          </a:p>
          <a:p>
            <a:pPr>
              <a:spcAft>
                <a:spcPts val="1200"/>
              </a:spcAft>
            </a:pPr>
            <a:r>
              <a:rPr sz="1200" b="0" i="0">
                <a:solidFill>
                  <a:srgbClr val="1F3A5F"/>
                </a:solidFill>
                <a:latin typeface="Calibri"/>
              </a:rPr>
              <a:t>■  </a:t>
            </a:r>
            <a:r>
              <a:rPr sz="1800" b="0" i="0">
                <a:solidFill>
                  <a:srgbClr val="222222"/>
                </a:solidFill>
                <a:latin typeface="Calibri"/>
              </a:rPr>
              <a:t>Per step: movie shown (junk flagged), click prob., click, satisfaction, left?</a:t>
            </a:r>
          </a:p>
          <a:p>
            <a:pPr>
              <a:spcAft>
                <a:spcPts val="1200"/>
              </a:spcAft>
            </a:pPr>
            <a:r>
              <a:rPr sz="1200" b="0" i="0">
                <a:solidFill>
                  <a:srgbClr val="1F3A5F"/>
                </a:solidFill>
                <a:latin typeface="Calibri"/>
              </a:rPr>
              <a:t>■  </a:t>
            </a:r>
            <a:r>
              <a:rPr sz="1800" b="0" i="0">
                <a:solidFill>
                  <a:srgbClr val="222222"/>
                </a:solidFill>
                <a:latin typeface="Calibri"/>
              </a:rPr>
              <a:t>Totals: clicks, session length, first-step CTR</a:t>
            </a:r>
          </a:p>
          <a:p>
            <a:pPr>
              <a:spcAft>
                <a:spcPts val="1200"/>
              </a:spcAft>
            </a:pPr>
            <a:r>
              <a:rPr sz="1200" b="0" i="0">
                <a:solidFill>
                  <a:srgbClr val="1F3A5F"/>
                </a:solidFill>
                <a:latin typeface="Calibri"/>
              </a:rPr>
              <a:t>■  </a:t>
            </a:r>
            <a:r>
              <a:rPr sz="1800" b="1" i="0">
                <a:solidFill>
                  <a:srgbClr val="1F3A5F"/>
                </a:solidFill>
                <a:latin typeface="Calibri"/>
              </a:rPr>
              <a:t>Slider for strength s:</a:t>
            </a:r>
            <a:r>
              <a:rPr sz="1800" b="0" i="0">
                <a:solidFill>
                  <a:srgbClr val="222222"/>
                </a:solidFill>
                <a:latin typeface="Calibri"/>
              </a:rPr>
              <a:t> watch the supervised session end early as s grows</a:t>
            </a:r>
          </a:p>
          <a:p>
            <a:pPr>
              <a:spcAft>
                <a:spcPts val="1200"/>
              </a:spcAft>
            </a:pPr>
            <a:r>
              <a:rPr sz="1200" b="0" i="0">
                <a:solidFill>
                  <a:srgbClr val="1F3A5F"/>
                </a:solidFill>
                <a:latin typeface="Calibri"/>
              </a:rPr>
              <a:t>■  </a:t>
            </a:r>
            <a:r>
              <a:rPr sz="1800" b="0" i="0">
                <a:solidFill>
                  <a:srgbClr val="222222"/>
                </a:solidFill>
                <a:latin typeface="Calibri"/>
              </a:rPr>
              <a:t>Results tab: all tables and figures of the report</a:t>
            </a:r>
          </a:p>
        </p:txBody>
      </p:sp>
      <p:sp>
        <p:nvSpPr>
          <p:cNvPr id="6" name="Rounded Rectangle 5"/>
          <p:cNvSpPr/>
          <p:nvPr/>
        </p:nvSpPr>
        <p:spPr>
          <a:xfrm>
            <a:off x="7589520" y="1508760"/>
            <a:ext cx="4023360" cy="137160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700" b="1" i="0">
                <a:solidFill>
                  <a:srgbClr val="1F3A5F"/>
                </a:solidFill>
                <a:latin typeface="Calibri"/>
              </a:rPr>
              <a:t>How to run</a:t>
            </a:r>
          </a:p>
          <a:p>
            <a:pPr>
              <a:spcBef>
                <a:spcPts val="500"/>
              </a:spcBef>
            </a:pPr>
            <a:r>
              <a:rPr sz="1600" b="0" i="0">
                <a:solidFill>
                  <a:srgbClr val="222222"/>
                </a:solidFill>
                <a:latin typeface="Calibri"/>
              </a:rPr>
              <a:t>python scripts/train_demo_models.py</a:t>
            </a:r>
          </a:p>
          <a:p>
            <a:pPr>
              <a:spcBef>
                <a:spcPts val="500"/>
              </a:spcBef>
            </a:pPr>
            <a:r>
              <a:rPr sz="1600" b="0" i="0">
                <a:solidFill>
                  <a:srgbClr val="222222"/>
                </a:solidFill>
                <a:latin typeface="Calibri"/>
              </a:rPr>
              <a:t>streamlit run app/demo.py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ctr" lIns="45720" rIns="45720">
            <a:spAutoFit/>
          </a:bodyPr>
          <a:lstStyle/>
          <a:p>
            <a:pPr algn="l"/>
            <a:r>
              <a:rPr sz="3200" b="1" i="0">
                <a:solidFill>
                  <a:srgbClr val="1F3A5F"/>
                </a:solidFill>
                <a:latin typeface="Calibri"/>
              </a:rPr>
              <a:t>Limitations and plan for pre-compre</a:t>
            </a:r>
          </a:p>
        </p:txBody>
      </p:sp>
      <p:sp>
        <p:nvSpPr>
          <p:cNvPr id="3" name="Rectangle 2"/>
          <p:cNvSpPr/>
          <p:nvPr/>
        </p:nvSpPr>
        <p:spPr>
          <a:xfrm>
            <a:off x="548640" y="1033271"/>
            <a:ext cx="1097280" cy="5486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57055" y="6446520"/>
            <a:ext cx="2286000" cy="274320"/>
          </a:xfrm>
          <a:prstGeom prst="rect">
            <a:avLst/>
          </a:prstGeom>
          <a:noFill/>
        </p:spPr>
        <p:txBody>
          <a:bodyPr wrap="square" anchor="t" lIns="45720" rIns="45720">
            <a:spAutoFit/>
          </a:bodyPr>
          <a:lstStyle/>
          <a:p>
            <a:pPr algn="r"/>
            <a:r>
              <a:rPr sz="1100" b="0" i="0">
                <a:solidFill>
                  <a:srgbClr val="666666"/>
                </a:solidFill>
                <a:latin typeface="Calibri"/>
              </a:rPr>
              <a:t>Samyak Bansal  |  14</a:t>
            </a:r>
          </a:p>
        </p:txBody>
      </p:sp>
      <p:sp>
        <p:nvSpPr>
          <p:cNvPr id="5" name="Rounded Rectangle 4"/>
          <p:cNvSpPr/>
          <p:nvPr/>
        </p:nvSpPr>
        <p:spPr>
          <a:xfrm>
            <a:off x="548640" y="1371600"/>
            <a:ext cx="4769967" cy="2743200"/>
          </a:xfrm>
          <a:prstGeom prst="roundRect">
            <a:avLst>
              <a:gd name="adj" fmla="val 8000"/>
            </a:avLst>
          </a:prstGeom>
          <a:solidFill>
            <a:srgbClr val="EEF2F7"/>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91440"/>
          <a:lstStyle/>
          <a:p>
            <a:pPr algn="ctr"/>
            <a:r>
              <a:rPr sz="1700" b="1" i="0">
                <a:solidFill>
                  <a:srgbClr val="1F3A5F"/>
                </a:solidFill>
                <a:latin typeface="Calibri"/>
              </a:rPr>
              <a:t>Limitations</a:t>
            </a:r>
          </a:p>
          <a:p>
            <a:pPr>
              <a:spcBef>
                <a:spcPts val="500"/>
              </a:spcBef>
            </a:pPr>
            <a:r>
              <a:rPr sz="1600" b="0" i="0">
                <a:solidFill>
                  <a:srgbClr val="222222"/>
                </a:solidFill>
                <a:latin typeface="Calibri"/>
              </a:rPr>
              <a:t>CPU only: RetailRocket partial (1 seed, 2-3 epochs)</a:t>
            </a:r>
          </a:p>
          <a:p>
            <a:pPr>
              <a:spcBef>
                <a:spcPts val="500"/>
              </a:spcBef>
            </a:pPr>
            <a:r>
              <a:rPr sz="1600" b="0" i="0">
                <a:solidFill>
                  <a:srgbClr val="222222"/>
                </a:solidFill>
                <a:latin typeface="Calibri"/>
              </a:rPr>
              <a:t>Simulator dynamics </a:t>
            </a:r>
            <a:r>
              <a:rPr sz="1600" b="1" i="0">
                <a:solidFill>
                  <a:srgbClr val="1F3A5F"/>
                </a:solidFill>
                <a:latin typeface="Calibri"/>
              </a:rPr>
              <a:t>assumed</a:t>
            </a:r>
            <a:r>
              <a:rPr sz="1600" b="0" i="0">
                <a:solidFill>
                  <a:srgbClr val="222222"/>
                </a:solidFill>
                <a:latin typeface="Calibri"/>
              </a:rPr>
              <a:t>, not learned: claims are about the mechanism</a:t>
            </a:r>
          </a:p>
          <a:p>
            <a:pPr>
              <a:spcBef>
                <a:spcPts val="500"/>
              </a:spcBef>
            </a:pPr>
            <a:r>
              <a:rPr sz="1600" b="0" i="0">
                <a:solidFill>
                  <a:srgbClr val="222222"/>
                </a:solidFill>
                <a:latin typeface="Calibri"/>
              </a:rPr>
              <a:t>3 seeds; KuaiRec replaced by MovieLens-1M</a:t>
            </a:r>
          </a:p>
          <a:p>
            <a:pPr>
              <a:spcBef>
                <a:spcPts val="500"/>
              </a:spcBef>
            </a:pPr>
            <a:r>
              <a:rPr sz="1600" b="0" i="0">
                <a:solidFill>
                  <a:srgbClr val="222222"/>
                </a:solidFill>
                <a:latin typeface="Calibri"/>
              </a:rPr>
              <a:t>Rating heuristic still beats learned agents</a:t>
            </a:r>
          </a:p>
        </p:txBody>
      </p:sp>
      <p:sp>
        <p:nvSpPr>
          <p:cNvPr id="6" name="TextBox 5"/>
          <p:cNvSpPr txBox="1"/>
          <p:nvPr/>
        </p:nvSpPr>
        <p:spPr>
          <a:xfrm>
            <a:off x="5775807" y="1371600"/>
            <a:ext cx="5410047" cy="4389120"/>
          </a:xfrm>
          <a:prstGeom prst="rect">
            <a:avLst/>
          </a:prstGeom>
          <a:noFill/>
        </p:spPr>
        <p:txBody>
          <a:bodyPr wrap="square">
            <a:spAutoFit/>
          </a:bodyPr>
          <a:lstStyle/>
          <a:p>
            <a:pPr>
              <a:spcAft>
                <a:spcPts val="1000"/>
              </a:spcAft>
            </a:pPr>
            <a:r>
              <a:rPr sz="1100" b="0" i="0">
                <a:solidFill>
                  <a:srgbClr val="1F3A5F"/>
                </a:solidFill>
                <a:latin typeface="Calibri"/>
              </a:rPr>
              <a:t>■  </a:t>
            </a:r>
            <a:r>
              <a:rPr sz="1700" b="1" i="0">
                <a:solidFill>
                  <a:srgbClr val="1F3A5F"/>
                </a:solidFill>
                <a:latin typeface="Calibri"/>
              </a:rPr>
              <a:t>Regime map:</a:t>
            </a:r>
            <a:r>
              <a:rPr sz="1700" b="0" i="0">
                <a:solidFill>
                  <a:srgbClr val="222222"/>
                </a:solidFill>
                <a:latin typeface="Calibri"/>
              </a:rPr>
              <a:t> RL advantage over K ∈ {1,3,5,10} × s × γ vs two-type toy model (formulation.tex, Sec. 4)</a:t>
            </a:r>
          </a:p>
          <a:p>
            <a:pPr>
              <a:spcAft>
                <a:spcPts val="1000"/>
              </a:spcAft>
            </a:pPr>
            <a:r>
              <a:rPr sz="1100" b="0" i="0">
                <a:solidFill>
                  <a:srgbClr val="1F3A5F"/>
                </a:solidFill>
                <a:latin typeface="Calibri"/>
              </a:rPr>
              <a:t>■  </a:t>
            </a:r>
            <a:r>
              <a:rPr sz="1700" b="1" i="0">
                <a:solidFill>
                  <a:srgbClr val="1F3A5F"/>
                </a:solidFill>
                <a:latin typeface="Calibri"/>
              </a:rPr>
              <a:t>Neural MNL-Q re-ranker</a:t>
            </a:r>
            <a:r>
              <a:rPr sz="1700" b="0" i="0">
                <a:solidFill>
                  <a:srgbClr val="222222"/>
                </a:solidFill>
                <a:latin typeface="Calibri"/>
              </a:rPr>
              <a:t> (K &gt; 1): item choice + value heads, exact LP slates, conservative offline</a:t>
            </a:r>
          </a:p>
          <a:p>
            <a:pPr>
              <a:spcAft>
                <a:spcPts val="1000"/>
              </a:spcAft>
            </a:pPr>
            <a:r>
              <a:rPr sz="1100" b="0" i="0">
                <a:solidFill>
                  <a:srgbClr val="1F3A5F"/>
                </a:solidFill>
                <a:latin typeface="Calibri"/>
              </a:rPr>
              <a:t>■  </a:t>
            </a:r>
            <a:r>
              <a:rPr sz="1700" b="1" i="0">
                <a:solidFill>
                  <a:srgbClr val="1F3A5F"/>
                </a:solidFill>
                <a:latin typeface="Calibri"/>
              </a:rPr>
              <a:t>Baselines:</a:t>
            </a:r>
            <a:r>
              <a:rPr sz="1700" b="0" i="0">
                <a:solidFill>
                  <a:srgbClr val="222222"/>
                </a:solidFill>
                <a:latin typeface="Calibri"/>
              </a:rPr>
              <a:t> PISDR-style offline RL re-ranker, SQN/EVAL heads, quality re-ranking</a:t>
            </a:r>
          </a:p>
          <a:p>
            <a:pPr>
              <a:spcAft>
                <a:spcPts val="1000"/>
              </a:spcAft>
            </a:pPr>
            <a:r>
              <a:rPr sz="1100" b="0" i="0">
                <a:solidFill>
                  <a:srgbClr val="1F3A5F"/>
                </a:solidFill>
                <a:latin typeface="Calibri"/>
              </a:rPr>
              <a:t>■  </a:t>
            </a:r>
            <a:r>
              <a:rPr sz="1700" b="1" i="0">
                <a:solidFill>
                  <a:srgbClr val="1F3A5F"/>
                </a:solidFill>
                <a:latin typeface="Calibri"/>
              </a:rPr>
              <a:t>Ablations:</a:t>
            </a:r>
            <a:r>
              <a:rPr sz="1700" b="0" i="0">
                <a:solidFill>
                  <a:srgbClr val="222222"/>
                </a:solidFill>
                <a:latin typeface="Calibri"/>
              </a:rPr>
              <a:t> logging policy, candidate set size, γ, junk vs fatigue</a:t>
            </a:r>
          </a:p>
          <a:p>
            <a:pPr>
              <a:spcAft>
                <a:spcPts val="1000"/>
              </a:spcAft>
            </a:pPr>
            <a:r>
              <a:rPr sz="1100" b="0" i="0">
                <a:solidFill>
                  <a:srgbClr val="1F3A5F"/>
                </a:solidFill>
                <a:latin typeface="Calibri"/>
              </a:rPr>
              <a:t>■  </a:t>
            </a:r>
            <a:r>
              <a:rPr sz="1700" b="1" i="0">
                <a:solidFill>
                  <a:srgbClr val="1F3A5F"/>
                </a:solidFill>
                <a:latin typeface="Calibri"/>
              </a:rPr>
              <a:t>Close the gap</a:t>
            </a:r>
            <a:r>
              <a:rPr sz="1700" b="0" i="0">
                <a:solidFill>
                  <a:srgbClr val="222222"/>
                </a:solidFill>
                <a:latin typeface="Calibri"/>
              </a:rPr>
              <a:t> to the rating heuristic; full RetailRocket GPU results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1097280"/>
          </a:xfrm>
          <a:prstGeom prst="rect">
            <a:avLst/>
          </a:prstGeom>
          <a:noFill/>
        </p:spPr>
        <p:txBody>
          <a:bodyPr wrap="square" anchor="t" lIns="45720" rIns="45720">
            <a:spAutoFit/>
          </a:bodyPr>
          <a:lstStyle/>
          <a:p>
            <a:pPr algn="l"/>
            <a:r>
              <a:rPr sz="4400" b="1" i="0">
                <a:solidFill>
                  <a:srgbClr val="1F3A5F"/>
                </a:solidFill>
                <a:latin typeface="Calibri"/>
              </a:rPr>
              <a:t>Questions?</a:t>
            </a:r>
          </a:p>
        </p:txBody>
      </p:sp>
      <p:sp>
        <p:nvSpPr>
          <p:cNvPr id="4" name="TextBox 3"/>
          <p:cNvSpPr txBox="1"/>
          <p:nvPr/>
        </p:nvSpPr>
        <p:spPr>
          <a:xfrm>
            <a:off x="914400" y="3383280"/>
            <a:ext cx="10332720" cy="914400"/>
          </a:xfrm>
          <a:prstGeom prst="rect">
            <a:avLst/>
          </a:prstGeom>
          <a:noFill/>
        </p:spPr>
        <p:txBody>
          <a:bodyPr wrap="square" anchor="t" lIns="45720" rIns="45720">
            <a:spAutoFit/>
          </a:bodyPr>
          <a:lstStyle/>
          <a:p>
            <a:pPr algn="l"/>
            <a:r>
              <a:rPr sz="2200" b="0" i="0">
                <a:solidFill>
                  <a:srgbClr val="222222"/>
                </a:solidFill>
                <a:latin typeface="Calibri"/>
              </a:rPr>
              <a:t>RL helps only if the user's choice changes their future.</a:t>
            </a:r>
          </a:p>
        </p:txBody>
      </p:sp>
      <p:sp>
        <p:nvSpPr>
          <p:cNvPr id="5" name="TextBox 4"/>
          <p:cNvSpPr txBox="1"/>
          <p:nvPr/>
        </p:nvSpPr>
        <p:spPr>
          <a:xfrm>
            <a:off x="914400" y="5760720"/>
            <a:ext cx="10332720" cy="365760"/>
          </a:xfrm>
          <a:prstGeom prst="rect">
            <a:avLst/>
          </a:prstGeom>
          <a:noFill/>
        </p:spPr>
        <p:txBody>
          <a:bodyPr wrap="square" anchor="t" lIns="45720" rIns="45720">
            <a:spAutoFit/>
          </a:bodyPr>
          <a:lstStyle/>
          <a:p>
            <a:pPr algn="l"/>
            <a:r>
              <a:rPr sz="1400" b="0" i="0">
                <a:solidFill>
                  <a:srgbClr val="666666"/>
                </a:solidFill>
                <a:latin typeface="Calibri"/>
              </a:rPr>
              <a:t>Code and report: github.com/samyakbansal5-eng/rl-seqrec  |  proofs: report/formulation.tex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